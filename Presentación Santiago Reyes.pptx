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901DC-95E8-4DC1-8804-47CC6CEA766D}" v="1" dt="2026-05-05T20:15:24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14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Reyes Cortes" userId="8f28195a-97d3-4c89-93bd-80ddceaf6d64" providerId="ADAL" clId="{6C604FAF-AF18-4F48-8306-22C0C3133AE5}"/>
    <pc:docChg chg="modSld">
      <pc:chgData name="Santiago Reyes Cortes" userId="8f28195a-97d3-4c89-93bd-80ddceaf6d64" providerId="ADAL" clId="{6C604FAF-AF18-4F48-8306-22C0C3133AE5}" dt="2026-05-05T20:17:14.059" v="37" actId="20577"/>
      <pc:docMkLst>
        <pc:docMk/>
      </pc:docMkLst>
      <pc:sldChg chg="modSp mod">
        <pc:chgData name="Santiago Reyes Cortes" userId="8f28195a-97d3-4c89-93bd-80ddceaf6d64" providerId="ADAL" clId="{6C604FAF-AF18-4F48-8306-22C0C3133AE5}" dt="2026-05-05T20:15:33.011" v="5" actId="20577"/>
        <pc:sldMkLst>
          <pc:docMk/>
          <pc:sldMk cId="0" sldId="256"/>
        </pc:sldMkLst>
        <pc:spChg chg="mod">
          <ac:chgData name="Santiago Reyes Cortes" userId="8f28195a-97d3-4c89-93bd-80ddceaf6d64" providerId="ADAL" clId="{6C604FAF-AF18-4F48-8306-22C0C3133AE5}" dt="2026-05-05T20:15:18.685" v="1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5:27.652" v="4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5:33.011" v="5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Santiago Reyes Cortes" userId="8f28195a-97d3-4c89-93bd-80ddceaf6d64" providerId="ADAL" clId="{6C604FAF-AF18-4F48-8306-22C0C3133AE5}" dt="2026-05-05T20:15:51.021" v="9" actId="20577"/>
        <pc:sldMkLst>
          <pc:docMk/>
          <pc:sldMk cId="0" sldId="258"/>
        </pc:sldMkLst>
        <pc:spChg chg="mod">
          <ac:chgData name="Santiago Reyes Cortes" userId="8f28195a-97d3-4c89-93bd-80ddceaf6d64" providerId="ADAL" clId="{6C604FAF-AF18-4F48-8306-22C0C3133AE5}" dt="2026-05-05T20:15:43.576" v="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5:45.596" v="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5:47.962" v="8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5:51.021" v="9" actId="20577"/>
          <ac:spMkLst>
            <pc:docMk/>
            <pc:sldMk cId="0" sldId="258"/>
            <ac:spMk id="28" creationId="{00000000-0000-0000-0000-000000000000}"/>
          </ac:spMkLst>
        </pc:spChg>
      </pc:sldChg>
      <pc:sldChg chg="modSp mod">
        <pc:chgData name="Santiago Reyes Cortes" userId="8f28195a-97d3-4c89-93bd-80ddceaf6d64" providerId="ADAL" clId="{6C604FAF-AF18-4F48-8306-22C0C3133AE5}" dt="2026-05-05T20:16:16.635" v="13" actId="20577"/>
        <pc:sldMkLst>
          <pc:docMk/>
          <pc:sldMk cId="0" sldId="260"/>
        </pc:sldMkLst>
        <pc:spChg chg="mod">
          <ac:chgData name="Santiago Reyes Cortes" userId="8f28195a-97d3-4c89-93bd-80ddceaf6d64" providerId="ADAL" clId="{6C604FAF-AF18-4F48-8306-22C0C3133AE5}" dt="2026-05-05T20:16:08.005" v="10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10.398" v="11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12.872" v="12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16.635" v="13" actId="20577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Santiago Reyes Cortes" userId="8f28195a-97d3-4c89-93bd-80ddceaf6d64" providerId="ADAL" clId="{6C604FAF-AF18-4F48-8306-22C0C3133AE5}" dt="2026-05-05T20:16:49.306" v="19" actId="20577"/>
        <pc:sldMkLst>
          <pc:docMk/>
          <pc:sldMk cId="0" sldId="263"/>
        </pc:sldMkLst>
        <pc:spChg chg="mod">
          <ac:chgData name="Santiago Reyes Cortes" userId="8f28195a-97d3-4c89-93bd-80ddceaf6d64" providerId="ADAL" clId="{6C604FAF-AF18-4F48-8306-22C0C3133AE5}" dt="2026-05-05T20:16:36.852" v="1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38.854" v="15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42.442" v="16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49.306" v="19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47.294" v="18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44.191" v="17" actId="20577"/>
          <ac:spMkLst>
            <pc:docMk/>
            <pc:sldMk cId="0" sldId="263"/>
            <ac:spMk id="26" creationId="{00000000-0000-0000-0000-000000000000}"/>
          </ac:spMkLst>
        </pc:spChg>
      </pc:sldChg>
      <pc:sldChg chg="modSp mod">
        <pc:chgData name="Santiago Reyes Cortes" userId="8f28195a-97d3-4c89-93bd-80ddceaf6d64" providerId="ADAL" clId="{6C604FAF-AF18-4F48-8306-22C0C3133AE5}" dt="2026-05-05T20:16:59.707" v="22" actId="20577"/>
        <pc:sldMkLst>
          <pc:docMk/>
          <pc:sldMk cId="0" sldId="264"/>
        </pc:sldMkLst>
        <pc:spChg chg="mod">
          <ac:chgData name="Santiago Reyes Cortes" userId="8f28195a-97d3-4c89-93bd-80ddceaf6d64" providerId="ADAL" clId="{6C604FAF-AF18-4F48-8306-22C0C3133AE5}" dt="2026-05-05T20:16:54.935" v="20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57.716" v="21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Santiago Reyes Cortes" userId="8f28195a-97d3-4c89-93bd-80ddceaf6d64" providerId="ADAL" clId="{6C604FAF-AF18-4F48-8306-22C0C3133AE5}" dt="2026-05-05T20:16:59.707" v="22" actId="20577"/>
          <ac:spMkLst>
            <pc:docMk/>
            <pc:sldMk cId="0" sldId="264"/>
            <ac:spMk id="28" creationId="{00000000-0000-0000-0000-000000000000}"/>
          </ac:spMkLst>
        </pc:spChg>
      </pc:sldChg>
      <pc:sldChg chg="modSp mod">
        <pc:chgData name="Santiago Reyes Cortes" userId="8f28195a-97d3-4c89-93bd-80ddceaf6d64" providerId="ADAL" clId="{6C604FAF-AF18-4F48-8306-22C0C3133AE5}" dt="2026-05-05T20:17:14.059" v="37" actId="20577"/>
        <pc:sldMkLst>
          <pc:docMk/>
          <pc:sldMk cId="0" sldId="265"/>
        </pc:sldMkLst>
        <pc:spChg chg="mod">
          <ac:chgData name="Santiago Reyes Cortes" userId="8f28195a-97d3-4c89-93bd-80ddceaf6d64" providerId="ADAL" clId="{6C604FAF-AF18-4F48-8306-22C0C3133AE5}" dt="2026-05-05T20:17:14.059" v="37" actId="20577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74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441F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FF441F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RAPPI ENGINEERING  •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Rappi Store Monitor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Dashboard para Disponibilidad de Tiendas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Gráficos Interactivos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01752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3756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Chatbotcon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 2.5 Flash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217920" y="30175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33,000+ Lecturas Procesadas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2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47640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•  Streamlit  •  Plotly  •  Google Gemini API  •  Pandas / NumPy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negocio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disponibilidad de tiendas impacta directamente la experiencia del usuario en Rappi.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online / offline genera un registro histórico crítico para operaciones.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equipos necesitaban visibilidad rápida sobre anomalías y patrones de disponibilidad.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disponible: 33,000+ lecturas a intervalos de 10 segundos (1–6 Feb 2026).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1600200" cy="118872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577840" y="1280160"/>
            <a:ext cx="160020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57784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33,000+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lecturas totales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96912" y="1280160"/>
            <a:ext cx="1600200" cy="118872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296912" y="1280160"/>
            <a:ext cx="160020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296912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seg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96912" y="1993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 de muestreo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1600200" cy="118872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577840" y="2697480"/>
            <a:ext cx="160020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577840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días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77840" y="34107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histórica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96912" y="2697480"/>
            <a:ext cx="1600200" cy="118872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296912" y="2697480"/>
            <a:ext cx="160020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296912" y="2834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CSVs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96912" y="34107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4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de datos procesados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365760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73152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CSVs · Pandas · @st.cache_data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691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6974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dinámica sin pre-merging. Parsing vectorizado de timestamps JS Date.toString() — 50× más rápido que dateutil row-by-row.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188720"/>
            <a:ext cx="1965960" cy="3657600"/>
          </a:xfrm>
          <a:prstGeom prst="rect">
            <a:avLst/>
          </a:prstGeom>
          <a:solidFill>
            <a:srgbClr val="FEF3E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468880" y="1188720"/>
            <a:ext cx="1965960" cy="73152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6888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783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32888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Rolling Z-Score · Feature Engineering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2606040"/>
            <a:ext cx="1691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532888" y="26974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con z-score local (ventana 5 min). Hora, día de semana, fin de semana extraídos automáticamente.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188720"/>
            <a:ext cx="1965960" cy="3657600"/>
          </a:xfrm>
          <a:prstGeom prst="rect">
            <a:avLst/>
          </a:prstGeom>
          <a:solidFill>
            <a:srgbClr val="E8F8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1965960" cy="73152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61772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7720" y="1783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81728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7 gráficos interactivos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1691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81728" y="26974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temporal, heatmap, barras diarias, patrón horario, anomalías, distribución semana/fin de semana, promedio por día.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188720"/>
            <a:ext cx="1965960" cy="3657600"/>
          </a:xfrm>
          <a:prstGeom prst="rect">
            <a:avLst/>
          </a:prstGeom>
          <a:solidFill>
            <a:srgbClr val="F3E8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766560" y="1188720"/>
            <a:ext cx="1965960" cy="73152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766560" y="1280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1783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0568" y="2176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Seeded History · Streaming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2606040"/>
            <a:ext cx="1691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830568" y="26974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datos inyectado una sola vez como primer turno. Respuestas en streaming token a token. Soporte español/inglés.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67712" y="3017520"/>
            <a:ext cx="201168" cy="0"/>
          </a:xfrm>
          <a:prstGeom prst="line">
            <a:avLst/>
          </a:prstGeom>
          <a:noFill/>
          <a:ln w="25400">
            <a:solidFill>
              <a:srgbClr val="FF4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416552" y="3017520"/>
            <a:ext cx="201168" cy="0"/>
          </a:xfrm>
          <a:prstGeom prst="line">
            <a:avLst/>
          </a:prstGeom>
          <a:noFill/>
          <a:ln w="25400">
            <a:solidFill>
              <a:srgbClr val="FF4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565392" y="3017520"/>
            <a:ext cx="201168" cy="0"/>
          </a:xfrm>
          <a:prstGeom prst="line">
            <a:avLst/>
          </a:prstGeom>
          <a:noFill/>
          <a:ln w="25400">
            <a:solidFill>
              <a:srgbClr val="FF4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de Visualización — 7 Gráficos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" y="1655064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de Tiempo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2039112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global con range selector (1h / 6h / 1d)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9544" y="1655064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Hora × Día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9544" y="2039112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horas y días tuvieron más/menos tiendas online?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834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12648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1655064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Diarias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9904" y="2039112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Peak, promedio y mínimo por día (Feb 1–6)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1031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" y="33467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Horario ±σ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" y="373075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intradiaria típica y variabilidad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0" y="2834640"/>
            <a:ext cx="21031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651760" y="292608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65176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15184" y="33467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5184" y="373075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local sobre ventana de 5 minutos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834640"/>
            <a:ext cx="21031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937760" y="292608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93776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3467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vs Fin de Semana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3730752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comparativo de las dos poblaciones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2834640"/>
            <a:ext cx="1828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223760" y="2926080"/>
            <a:ext cx="347472" cy="347472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22376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87184" y="33467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por Día de Semana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373075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de la semana tuvo mayor disponibilidad?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Asistente IA — Gemini 2.5 Flash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846320" cy="8229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Bilingüe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español e inglés detectando el idioma del usuario.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4846320" cy="8229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0" name="Text 8"/>
          <p:cNvSpPr/>
          <p:nvPr/>
        </p:nvSpPr>
        <p:spPr>
          <a:xfrm>
            <a:off x="411480" y="209397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13969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en Tiempo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5973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 token con st.write_stream — cero latencia percibida.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44952"/>
            <a:ext cx="4846320" cy="8229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4" name="Text 12"/>
          <p:cNvSpPr/>
          <p:nvPr/>
        </p:nvSpPr>
        <p:spPr>
          <a:xfrm>
            <a:off x="411480" y="304495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090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Seeded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4107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dataset (~3 KB) inyectado una sola vez como primer turno, no en cada mensaje.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95928"/>
            <a:ext cx="4846320" cy="8229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8" name="Text 16"/>
          <p:cNvSpPr/>
          <p:nvPr/>
        </p:nvSpPr>
        <p:spPr>
          <a:xfrm>
            <a:off x="411480" y="399592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0416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Seguros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361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 .streamlit/secrets.toml, excluida del repo. Badge verde 'IA Conectada' si está configurada.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1143000"/>
            <a:ext cx="3383280" cy="379476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440680" y="1143000"/>
            <a:ext cx="338328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Asistente IA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160020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605272" y="164592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hora tuvo más tiendas online?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23560" y="233172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696712" y="237744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las 12:00 y 13:00 se observó el mayor pico de disponibilidad, con un promedio de 892 tiendas activas.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306324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605272" y="310896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¿Hubo anomalías el viernes?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379476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696712" y="3840480"/>
            <a:ext cx="2916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detecté 3 caídas bruscas el viernes 6 de febrero, la más severa a las 09:14 con una caída del 18%.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Decisiones Técnicas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7373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4864" cy="173736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Streamlit?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 script Python en web app completa con cero HTML/JS. Primitivas nativas de chat (st.chat_input, st.write_stream) ideales para el chatbot.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Alternativa descartada: Flask/FastAPI habrían requerido un frontend separado.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160520" cy="17373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54864" cy="173736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8348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carga dinámica de CSVs?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el repo limpio (datos crudos siguen siendo crudos) y facilita agregar más archivos sin pasos de pre-procesamiento. @st.cache_data garantiza una sola carga por sesión.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Alternativa descartada: Un único CSV pre-mergeado habría acoplado el pipeline de datos.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54864" cy="173736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Gemini 2.5 Flash?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2.0-flash tenía limit:0 en el tier gratuito en el momento del desarrollo. El SDK google-genai ≥1.0.0 (no el deprecado) es requerido para este modelo.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Alternativa descartada: GPT-4o habría requerido clave de pago; Gemini es gratuito con cuota razonable.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160520" cy="173736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54864" cy="173736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983480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z-score local?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474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caída normal nocturna no dispara alertas porque la comparación es con el promedio local (ventana 5 min), no el global. Solo cambios bruscos se marcan como anomalías.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Alternativa descartada: Z-score global habría producido falsos positivos en horas de bajo tráfico.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46304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75488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85216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94944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046720" y="228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46304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85216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94944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46304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56032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65760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85216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94944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46304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256032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365760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585216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94944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8046720" y="379476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usé la IA?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932688"/>
            <a:ext cx="164592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365760" y="1143000"/>
            <a:ext cx="1965960" cy="3566160"/>
          </a:xfrm>
          <a:prstGeom prst="rect">
            <a:avLst/>
          </a:prstGeom>
          <a:solidFill>
            <a:srgbClr val="25305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1051560" y="1234440"/>
            <a:ext cx="594360" cy="594360"/>
          </a:xfrm>
          <a:prstGeom prst="ellipse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10515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7200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Arquitectura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2606040"/>
            <a:ext cx="1783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Claude/ChatGPT ayudaron a evaluar opciones de stack (Streamlit vs Flask vs Next.js) y definir la separación en módulos: data_loader, chatbot, app.py.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42032" y="1143000"/>
            <a:ext cx="1965960" cy="3566160"/>
          </a:xfrm>
          <a:prstGeom prst="rect">
            <a:avLst/>
          </a:prstGeom>
          <a:solidFill>
            <a:srgbClr val="25305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3227832" y="1234440"/>
            <a:ext cx="594360" cy="594360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227832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33472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Vectorizado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33472" y="2606040"/>
            <a:ext cx="1783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del regex sobre columnas Date.toString() surgió de iterar con IA hasta eliminar el cuello de botella de 50× en el parsing de timestamps.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18304" y="1143000"/>
            <a:ext cx="1965960" cy="3566160"/>
          </a:xfrm>
          <a:prstGeom prst="rect">
            <a:avLst/>
          </a:prstGeom>
          <a:solidFill>
            <a:srgbClr val="25305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5404104" y="1234440"/>
            <a:ext cx="594360" cy="594360"/>
          </a:xfrm>
          <a:prstGeom prst="ellipse">
            <a:avLst/>
          </a:prstGeom>
          <a:solidFill>
            <a:srgbClr val="FF8C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5404104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809744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9744" y="2606040"/>
            <a:ext cx="1783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system prompt del chatbot fue refinado con IA para inyectar el contexto del dataset sin repetirlo en cada turno y habilitar respuestas bilingües.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94576" y="1143000"/>
            <a:ext cx="1965960" cy="3566160"/>
          </a:xfrm>
          <a:prstGeom prst="rect">
            <a:avLst/>
          </a:prstGeom>
          <a:solidFill>
            <a:srgbClr val="25305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7580376" y="1234440"/>
            <a:ext cx="594360" cy="594360"/>
          </a:xfrm>
          <a:prstGeom prst="ellipse">
            <a:avLst/>
          </a:prstGeom>
          <a:solidFill>
            <a:srgbClr val="FFAD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580376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986016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/ Branding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86016" y="2606040"/>
            <a:ext cx="1783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CSS del tema Rappi (naranja, navy, pill-tabs, KPI cards con hover lift) fueron generadas y ajustadas iterativamente con asistencia de IA.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&amp; Diseño — Más Allá de lo Básico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Rappi Custom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39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navy + borde naranja, tabs pill-style (activo: blanco/naranja), config.toml con color primario #FF441F.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039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naranja superior + efecto hover lift. Valores calculados en tiempo real desde los datos filtrados.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4" name="Text 12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Interactivo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0391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para umbral de anomalías, filtros de rango de fechas. Toda la UI reactiva a cambios.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de Estado 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136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verde 'IA Conectada' cuando la API key está configurada. Input visible como fallback si falta.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Visual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9136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chart_style() helper centraliza tipografía, colores de grid y márgenes en los 7 gráficos Plotly.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651760" cy="169164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26" name="Text 24"/>
          <p:cNvSpPr/>
          <p:nvPr/>
        </p:nvSpPr>
        <p:spPr>
          <a:xfrm>
            <a:off x="612648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Forzado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9136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.streamlit/config.toml fuerza light theme para asegurar consistencia visual sin importar preferencias del sistema.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Código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840480" cy="36576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Rappi_Entregable/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app.py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app Streamlit principal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data_loader.py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ingesta + feature eng.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chatbot.py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cliente Gemini + streaming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requirements.txt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dependencias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rappi_company_icon.png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AVAILABILITY-data (1..100).csv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57200" y="37216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.streamlit/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40080" y="40599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config.toml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tema light + naranja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40080" y="43982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secrets.toml</a:t>
            </a:r>
            <a:r>
              <a:rPr lang="en-US" sz="88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API key (no committed)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0040" y="4846320"/>
            <a:ext cx="3840480" cy="20116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F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  →  http://localhost:8501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4251960" cy="109728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0" y="1143000"/>
            <a:ext cx="54864" cy="109728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Secrets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16002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Gemini en secrets.toml (gitignore). st.secrets.get() con fallback a input field.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404872"/>
            <a:ext cx="4251960" cy="109728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572000" y="2404872"/>
            <a:ext cx="54864" cy="109728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709160" y="24963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86207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evita recargar 100 CSVs en cada interacción. Parsing vectorizado con regex.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666744"/>
            <a:ext cx="4251960" cy="1097280"/>
          </a:xfrm>
          <a:prstGeom prst="rect">
            <a:avLst/>
          </a:prstGeom>
          <a:solidFill>
            <a:srgbClr val="F4F5F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572000" y="3666744"/>
            <a:ext cx="54864" cy="1097280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709160" y="3758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Zero Deploy Needed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12394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 + streamlit run app.py. Sin Docker, sin cloud, sin configuración extra.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914400"/>
            <a:ext cx="4572000" cy="4572000"/>
          </a:xfrm>
          <a:prstGeom prst="ellipse">
            <a:avLst/>
          </a:prstGeom>
          <a:solidFill>
            <a:srgbClr val="FF441F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583680" y="1645920"/>
            <a:ext cx="2926080" cy="2926080"/>
          </a:xfrm>
          <a:prstGeom prst="ellipse">
            <a:avLst/>
          </a:prstGeom>
          <a:solidFill>
            <a:srgbClr val="FF441F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Rappi Store Monitor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64008"/>
          </a:xfrm>
          <a:prstGeom prst="rect">
            <a:avLst/>
          </a:prstGeom>
          <a:solidFill>
            <a:srgbClr val="FF44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funcional con 7 gráficos Plotly interactivos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 Gemini 2.5 Flash, streaming y contexto seeded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Rappi completo — naranja + navy, pill-tabs, KPI cards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anomalías con z-score local adaptativo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modular, documentado y listo para ejecutar localmente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0512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810512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55264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55264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0016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00016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44768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4251960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FF441F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589520" y="4251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github.com/Sreys54/Rappi_Entregable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1254</Words>
  <Application>Microsoft Office PowerPoint</Application>
  <PresentationFormat>Presentación en pantalla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Rappi Store Monitor – AI Dashboard</dc:title>
  <dc:subject>PptxGenJS Presentation</dc:subject>
  <dc:creator>PptxGenJS</dc:creator>
  <cp:lastModifiedBy>Santiago Reyes Cortes</cp:lastModifiedBy>
  <cp:revision>1</cp:revision>
  <dcterms:created xsi:type="dcterms:W3CDTF">2026-05-05T20:12:14Z</dcterms:created>
  <dcterms:modified xsi:type="dcterms:W3CDTF">2026-05-05T20:17:23Z</dcterms:modified>
</cp:coreProperties>
</file>