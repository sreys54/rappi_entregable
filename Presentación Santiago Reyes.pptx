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3D901DC-95E8-4DC1-8804-47CC6CEA766D}" v="1" dt="2026-05-05T20:15:24.54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1" d="100"/>
          <a:sy n="91" d="100"/>
        </p:scale>
        <p:origin x="78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ntiago Reyes Cortes" userId="8f28195a-97d3-4c89-93bd-80ddceaf6d64" providerId="ADAL" clId="{6C604FAF-AF18-4F48-8306-22C0C3133AE5}"/>
    <pc:docChg chg="custSel modSld">
      <pc:chgData name="Santiago Reyes Cortes" userId="8f28195a-97d3-4c89-93bd-80ddceaf6d64" providerId="ADAL" clId="{6C604FAF-AF18-4F48-8306-22C0C3133AE5}" dt="2026-05-05T20:29:32.211" v="50" actId="313"/>
      <pc:docMkLst>
        <pc:docMk/>
      </pc:docMkLst>
      <pc:sldChg chg="modSp mod">
        <pc:chgData name="Santiago Reyes Cortes" userId="8f28195a-97d3-4c89-93bd-80ddceaf6d64" providerId="ADAL" clId="{6C604FAF-AF18-4F48-8306-22C0C3133AE5}" dt="2026-05-05T20:15:33.011" v="5" actId="20577"/>
        <pc:sldMkLst>
          <pc:docMk/>
          <pc:sldMk cId="0" sldId="256"/>
        </pc:sldMkLst>
        <pc:spChg chg="mod">
          <ac:chgData name="Santiago Reyes Cortes" userId="8f28195a-97d3-4c89-93bd-80ddceaf6d64" providerId="ADAL" clId="{6C604FAF-AF18-4F48-8306-22C0C3133AE5}" dt="2026-05-05T20:15:18.685" v="1" actId="20577"/>
          <ac:spMkLst>
            <pc:docMk/>
            <pc:sldMk cId="0" sldId="256"/>
            <ac:spMk id="9" creationId="{00000000-0000-0000-0000-000000000000}"/>
          </ac:spMkLst>
        </pc:spChg>
        <pc:spChg chg="mod">
          <ac:chgData name="Santiago Reyes Cortes" userId="8f28195a-97d3-4c89-93bd-80ddceaf6d64" providerId="ADAL" clId="{6C604FAF-AF18-4F48-8306-22C0C3133AE5}" dt="2026-05-05T20:15:27.652" v="4" actId="20577"/>
          <ac:spMkLst>
            <pc:docMk/>
            <pc:sldMk cId="0" sldId="256"/>
            <ac:spMk id="11" creationId="{00000000-0000-0000-0000-000000000000}"/>
          </ac:spMkLst>
        </pc:spChg>
        <pc:spChg chg="mod">
          <ac:chgData name="Santiago Reyes Cortes" userId="8f28195a-97d3-4c89-93bd-80ddceaf6d64" providerId="ADAL" clId="{6C604FAF-AF18-4F48-8306-22C0C3133AE5}" dt="2026-05-05T20:15:33.011" v="5" actId="20577"/>
          <ac:spMkLst>
            <pc:docMk/>
            <pc:sldMk cId="0" sldId="256"/>
            <ac:spMk id="13" creationId="{00000000-0000-0000-0000-000000000000}"/>
          </ac:spMkLst>
        </pc:spChg>
      </pc:sldChg>
      <pc:sldChg chg="modSp mod">
        <pc:chgData name="Santiago Reyes Cortes" userId="8f28195a-97d3-4c89-93bd-80ddceaf6d64" providerId="ADAL" clId="{6C604FAF-AF18-4F48-8306-22C0C3133AE5}" dt="2026-05-05T20:15:51.021" v="9" actId="20577"/>
        <pc:sldMkLst>
          <pc:docMk/>
          <pc:sldMk cId="0" sldId="258"/>
        </pc:sldMkLst>
        <pc:spChg chg="mod">
          <ac:chgData name="Santiago Reyes Cortes" userId="8f28195a-97d3-4c89-93bd-80ddceaf6d64" providerId="ADAL" clId="{6C604FAF-AF18-4F48-8306-22C0C3133AE5}" dt="2026-05-05T20:15:43.576" v="6" actId="20577"/>
          <ac:spMkLst>
            <pc:docMk/>
            <pc:sldMk cId="0" sldId="258"/>
            <ac:spMk id="7" creationId="{00000000-0000-0000-0000-000000000000}"/>
          </ac:spMkLst>
        </pc:spChg>
        <pc:spChg chg="mod">
          <ac:chgData name="Santiago Reyes Cortes" userId="8f28195a-97d3-4c89-93bd-80ddceaf6d64" providerId="ADAL" clId="{6C604FAF-AF18-4F48-8306-22C0C3133AE5}" dt="2026-05-05T20:15:45.596" v="7" actId="20577"/>
          <ac:spMkLst>
            <pc:docMk/>
            <pc:sldMk cId="0" sldId="258"/>
            <ac:spMk id="14" creationId="{00000000-0000-0000-0000-000000000000}"/>
          </ac:spMkLst>
        </pc:spChg>
        <pc:spChg chg="mod">
          <ac:chgData name="Santiago Reyes Cortes" userId="8f28195a-97d3-4c89-93bd-80ddceaf6d64" providerId="ADAL" clId="{6C604FAF-AF18-4F48-8306-22C0C3133AE5}" dt="2026-05-05T20:15:47.962" v="8" actId="20577"/>
          <ac:spMkLst>
            <pc:docMk/>
            <pc:sldMk cId="0" sldId="258"/>
            <ac:spMk id="21" creationId="{00000000-0000-0000-0000-000000000000}"/>
          </ac:spMkLst>
        </pc:spChg>
        <pc:spChg chg="mod">
          <ac:chgData name="Santiago Reyes Cortes" userId="8f28195a-97d3-4c89-93bd-80ddceaf6d64" providerId="ADAL" clId="{6C604FAF-AF18-4F48-8306-22C0C3133AE5}" dt="2026-05-05T20:15:51.021" v="9" actId="20577"/>
          <ac:spMkLst>
            <pc:docMk/>
            <pc:sldMk cId="0" sldId="258"/>
            <ac:spMk id="28" creationId="{00000000-0000-0000-0000-000000000000}"/>
          </ac:spMkLst>
        </pc:spChg>
      </pc:sldChg>
      <pc:sldChg chg="modSp mod">
        <pc:chgData name="Santiago Reyes Cortes" userId="8f28195a-97d3-4c89-93bd-80ddceaf6d64" providerId="ADAL" clId="{6C604FAF-AF18-4F48-8306-22C0C3133AE5}" dt="2026-05-05T20:29:32.211" v="50" actId="313"/>
        <pc:sldMkLst>
          <pc:docMk/>
          <pc:sldMk cId="0" sldId="260"/>
        </pc:sldMkLst>
        <pc:spChg chg="mod">
          <ac:chgData name="Santiago Reyes Cortes" userId="8f28195a-97d3-4c89-93bd-80ddceaf6d64" providerId="ADAL" clId="{6C604FAF-AF18-4F48-8306-22C0C3133AE5}" dt="2026-05-05T20:16:08.005" v="10" actId="20577"/>
          <ac:spMkLst>
            <pc:docMk/>
            <pc:sldMk cId="0" sldId="260"/>
            <ac:spMk id="6" creationId="{00000000-0000-0000-0000-000000000000}"/>
          </ac:spMkLst>
        </pc:spChg>
        <pc:spChg chg="mod">
          <ac:chgData name="Santiago Reyes Cortes" userId="8f28195a-97d3-4c89-93bd-80ddceaf6d64" providerId="ADAL" clId="{6C604FAF-AF18-4F48-8306-22C0C3133AE5}" dt="2026-05-05T20:16:10.398" v="11" actId="20577"/>
          <ac:spMkLst>
            <pc:docMk/>
            <pc:sldMk cId="0" sldId="260"/>
            <ac:spMk id="10" creationId="{00000000-0000-0000-0000-000000000000}"/>
          </ac:spMkLst>
        </pc:spChg>
        <pc:spChg chg="mod">
          <ac:chgData name="Santiago Reyes Cortes" userId="8f28195a-97d3-4c89-93bd-80ddceaf6d64" providerId="ADAL" clId="{6C604FAF-AF18-4F48-8306-22C0C3133AE5}" dt="2026-05-05T20:16:12.872" v="12" actId="20577"/>
          <ac:spMkLst>
            <pc:docMk/>
            <pc:sldMk cId="0" sldId="260"/>
            <ac:spMk id="14" creationId="{00000000-0000-0000-0000-000000000000}"/>
          </ac:spMkLst>
        </pc:spChg>
        <pc:spChg chg="mod">
          <ac:chgData name="Santiago Reyes Cortes" userId="8f28195a-97d3-4c89-93bd-80ddceaf6d64" providerId="ADAL" clId="{6C604FAF-AF18-4F48-8306-22C0C3133AE5}" dt="2026-05-05T20:16:16.635" v="13" actId="20577"/>
          <ac:spMkLst>
            <pc:docMk/>
            <pc:sldMk cId="0" sldId="260"/>
            <ac:spMk id="18" creationId="{00000000-0000-0000-0000-000000000000}"/>
          </ac:spMkLst>
        </pc:spChg>
        <pc:spChg chg="mod">
          <ac:chgData name="Santiago Reyes Cortes" userId="8f28195a-97d3-4c89-93bd-80ddceaf6d64" providerId="ADAL" clId="{6C604FAF-AF18-4F48-8306-22C0C3133AE5}" dt="2026-05-05T20:29:32.211" v="50" actId="313"/>
          <ac:spMkLst>
            <pc:docMk/>
            <pc:sldMk cId="0" sldId="260"/>
            <ac:spMk id="20" creationId="{00000000-0000-0000-0000-000000000000}"/>
          </ac:spMkLst>
        </pc:spChg>
      </pc:sldChg>
      <pc:sldChg chg="modSp mod">
        <pc:chgData name="Santiago Reyes Cortes" userId="8f28195a-97d3-4c89-93bd-80ddceaf6d64" providerId="ADAL" clId="{6C604FAF-AF18-4F48-8306-22C0C3133AE5}" dt="2026-05-05T20:16:49.306" v="19" actId="20577"/>
        <pc:sldMkLst>
          <pc:docMk/>
          <pc:sldMk cId="0" sldId="263"/>
        </pc:sldMkLst>
        <pc:spChg chg="mod">
          <ac:chgData name="Santiago Reyes Cortes" userId="8f28195a-97d3-4c89-93bd-80ddceaf6d64" providerId="ADAL" clId="{6C604FAF-AF18-4F48-8306-22C0C3133AE5}" dt="2026-05-05T20:16:36.852" v="14" actId="20577"/>
          <ac:spMkLst>
            <pc:docMk/>
            <pc:sldMk cId="0" sldId="263"/>
            <ac:spMk id="6" creationId="{00000000-0000-0000-0000-000000000000}"/>
          </ac:spMkLst>
        </pc:spChg>
        <pc:spChg chg="mod">
          <ac:chgData name="Santiago Reyes Cortes" userId="8f28195a-97d3-4c89-93bd-80ddceaf6d64" providerId="ADAL" clId="{6C604FAF-AF18-4F48-8306-22C0C3133AE5}" dt="2026-05-05T20:16:38.854" v="15" actId="20577"/>
          <ac:spMkLst>
            <pc:docMk/>
            <pc:sldMk cId="0" sldId="263"/>
            <ac:spMk id="10" creationId="{00000000-0000-0000-0000-000000000000}"/>
          </ac:spMkLst>
        </pc:spChg>
        <pc:spChg chg="mod">
          <ac:chgData name="Santiago Reyes Cortes" userId="8f28195a-97d3-4c89-93bd-80ddceaf6d64" providerId="ADAL" clId="{6C604FAF-AF18-4F48-8306-22C0C3133AE5}" dt="2026-05-05T20:16:42.442" v="16" actId="20577"/>
          <ac:spMkLst>
            <pc:docMk/>
            <pc:sldMk cId="0" sldId="263"/>
            <ac:spMk id="14" creationId="{00000000-0000-0000-0000-000000000000}"/>
          </ac:spMkLst>
        </pc:spChg>
        <pc:spChg chg="mod">
          <ac:chgData name="Santiago Reyes Cortes" userId="8f28195a-97d3-4c89-93bd-80ddceaf6d64" providerId="ADAL" clId="{6C604FAF-AF18-4F48-8306-22C0C3133AE5}" dt="2026-05-05T20:16:49.306" v="19" actId="20577"/>
          <ac:spMkLst>
            <pc:docMk/>
            <pc:sldMk cId="0" sldId="263"/>
            <ac:spMk id="18" creationId="{00000000-0000-0000-0000-000000000000}"/>
          </ac:spMkLst>
        </pc:spChg>
        <pc:spChg chg="mod">
          <ac:chgData name="Santiago Reyes Cortes" userId="8f28195a-97d3-4c89-93bd-80ddceaf6d64" providerId="ADAL" clId="{6C604FAF-AF18-4F48-8306-22C0C3133AE5}" dt="2026-05-05T20:16:47.294" v="18" actId="20577"/>
          <ac:spMkLst>
            <pc:docMk/>
            <pc:sldMk cId="0" sldId="263"/>
            <ac:spMk id="22" creationId="{00000000-0000-0000-0000-000000000000}"/>
          </ac:spMkLst>
        </pc:spChg>
        <pc:spChg chg="mod">
          <ac:chgData name="Santiago Reyes Cortes" userId="8f28195a-97d3-4c89-93bd-80ddceaf6d64" providerId="ADAL" clId="{6C604FAF-AF18-4F48-8306-22C0C3133AE5}" dt="2026-05-05T20:16:44.191" v="17" actId="20577"/>
          <ac:spMkLst>
            <pc:docMk/>
            <pc:sldMk cId="0" sldId="263"/>
            <ac:spMk id="26" creationId="{00000000-0000-0000-0000-000000000000}"/>
          </ac:spMkLst>
        </pc:spChg>
      </pc:sldChg>
      <pc:sldChg chg="modSp mod">
        <pc:chgData name="Santiago Reyes Cortes" userId="8f28195a-97d3-4c89-93bd-80ddceaf6d64" providerId="ADAL" clId="{6C604FAF-AF18-4F48-8306-22C0C3133AE5}" dt="2026-05-05T20:16:59.707" v="22" actId="20577"/>
        <pc:sldMkLst>
          <pc:docMk/>
          <pc:sldMk cId="0" sldId="264"/>
        </pc:sldMkLst>
        <pc:spChg chg="mod">
          <ac:chgData name="Santiago Reyes Cortes" userId="8f28195a-97d3-4c89-93bd-80ddceaf6d64" providerId="ADAL" clId="{6C604FAF-AF18-4F48-8306-22C0C3133AE5}" dt="2026-05-05T20:16:54.935" v="20" actId="20577"/>
          <ac:spMkLst>
            <pc:docMk/>
            <pc:sldMk cId="0" sldId="264"/>
            <ac:spMk id="20" creationId="{00000000-0000-0000-0000-000000000000}"/>
          </ac:spMkLst>
        </pc:spChg>
        <pc:spChg chg="mod">
          <ac:chgData name="Santiago Reyes Cortes" userId="8f28195a-97d3-4c89-93bd-80ddceaf6d64" providerId="ADAL" clId="{6C604FAF-AF18-4F48-8306-22C0C3133AE5}" dt="2026-05-05T20:16:57.716" v="21" actId="20577"/>
          <ac:spMkLst>
            <pc:docMk/>
            <pc:sldMk cId="0" sldId="264"/>
            <ac:spMk id="24" creationId="{00000000-0000-0000-0000-000000000000}"/>
          </ac:spMkLst>
        </pc:spChg>
        <pc:spChg chg="mod">
          <ac:chgData name="Santiago Reyes Cortes" userId="8f28195a-97d3-4c89-93bd-80ddceaf6d64" providerId="ADAL" clId="{6C604FAF-AF18-4F48-8306-22C0C3133AE5}" dt="2026-05-05T20:16:59.707" v="22" actId="20577"/>
          <ac:spMkLst>
            <pc:docMk/>
            <pc:sldMk cId="0" sldId="264"/>
            <ac:spMk id="28" creationId="{00000000-0000-0000-0000-000000000000}"/>
          </ac:spMkLst>
        </pc:spChg>
      </pc:sldChg>
      <pc:sldChg chg="modSp mod">
        <pc:chgData name="Santiago Reyes Cortes" userId="8f28195a-97d3-4c89-93bd-80ddceaf6d64" providerId="ADAL" clId="{6C604FAF-AF18-4F48-8306-22C0C3133AE5}" dt="2026-05-05T20:17:14.059" v="37" actId="20577"/>
        <pc:sldMkLst>
          <pc:docMk/>
          <pc:sldMk cId="0" sldId="265"/>
        </pc:sldMkLst>
        <pc:spChg chg="mod">
          <ac:chgData name="Santiago Reyes Cortes" userId="8f28195a-97d3-4c89-93bd-80ddceaf6d64" providerId="ADAL" clId="{6C604FAF-AF18-4F48-8306-22C0C3133AE5}" dt="2026-05-05T20:17:14.059" v="37" actId="20577"/>
          <ac:spMkLst>
            <pc:docMk/>
            <pc:sldMk cId="0" sldId="265"/>
            <ac:spMk id="6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18745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F441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7132320" y="-1097280"/>
            <a:ext cx="3200400" cy="3200400"/>
          </a:xfrm>
          <a:prstGeom prst="ellipse">
            <a:avLst/>
          </a:prstGeom>
          <a:solidFill>
            <a:srgbClr val="FF441F">
              <a:alpha val="15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4" name="Shape 2"/>
          <p:cNvSpPr/>
          <p:nvPr/>
        </p:nvSpPr>
        <p:spPr>
          <a:xfrm>
            <a:off x="7680960" y="-457200"/>
            <a:ext cx="2011680" cy="2011680"/>
          </a:xfrm>
          <a:prstGeom prst="ellipse">
            <a:avLst/>
          </a:prstGeom>
          <a:solidFill>
            <a:srgbClr val="FF441F">
              <a:alpha val="30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FF4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RAPPI ENGINEERING  •  2026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7772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Rappi Store Monitor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457200" y="214884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AI-Powered Dashboard para Disponibilidad de Tiendas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3017520"/>
            <a:ext cx="2651760" cy="438912"/>
          </a:xfrm>
          <a:prstGeom prst="roundRect">
            <a:avLst>
              <a:gd name="adj" fmla="val 16667"/>
            </a:avLst>
          </a:prstGeom>
          <a:solidFill>
            <a:srgbClr val="FF441F">
              <a:alpha val="25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457200" y="3017520"/>
            <a:ext cx="26517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7 Gráficos Interactivos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37560" y="3017520"/>
            <a:ext cx="2651760" cy="438912"/>
          </a:xfrm>
          <a:prstGeom prst="roundRect">
            <a:avLst>
              <a:gd name="adj" fmla="val 16667"/>
            </a:avLst>
          </a:prstGeom>
          <a:solidFill>
            <a:srgbClr val="FF441F">
              <a:alpha val="25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1" name="Text 9"/>
          <p:cNvSpPr/>
          <p:nvPr/>
        </p:nvSpPr>
        <p:spPr>
          <a:xfrm>
            <a:off x="3337560" y="3017520"/>
            <a:ext cx="26517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5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Chatbotcon</a:t>
            </a: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Gemini 2.5 Flash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17920" y="3017520"/>
            <a:ext cx="2651760" cy="438912"/>
          </a:xfrm>
          <a:prstGeom prst="roundRect">
            <a:avLst>
              <a:gd name="adj" fmla="val 16667"/>
            </a:avLst>
          </a:prstGeom>
          <a:solidFill>
            <a:srgbClr val="FF441F">
              <a:alpha val="25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3" name="Text 11"/>
          <p:cNvSpPr/>
          <p:nvPr/>
        </p:nvSpPr>
        <p:spPr>
          <a:xfrm>
            <a:off x="6217920" y="3017520"/>
            <a:ext cx="26517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33,000+ Lecturas Procesadas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2122A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/>
          <p:nvPr/>
        </p:nvSpPr>
        <p:spPr>
          <a:xfrm>
            <a:off x="457200" y="4764024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49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 •  Streamlit  •  Plotly  •  Google Gemini API  •  Pandas / NumPy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 Problema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FF441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4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 del negocio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47548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disponibilidad de tiendas impacta directamente la experiencia del usuario en Rappi.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cambio online / offline genera un registro histórico crítico para operaciones.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equipos necesitaban visibilidad rápida sobre anomalías y patrones de disponibilidad.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 disponible: 33,000+ lecturas a intervalos de 10 segundos (1–6 Feb 2026).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577840" y="1280160"/>
            <a:ext cx="1600200" cy="1188720"/>
          </a:xfrm>
          <a:prstGeom prst="rect">
            <a:avLst/>
          </a:prstGeom>
          <a:solidFill>
            <a:srgbClr val="F4F5F7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8" name="Shape 6"/>
          <p:cNvSpPr/>
          <p:nvPr/>
        </p:nvSpPr>
        <p:spPr>
          <a:xfrm>
            <a:off x="5577840" y="1280160"/>
            <a:ext cx="1600200" cy="64008"/>
          </a:xfrm>
          <a:prstGeom prst="rect">
            <a:avLst/>
          </a:prstGeom>
          <a:solidFill>
            <a:srgbClr val="FF441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5577840" y="1417320"/>
            <a:ext cx="1600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441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33,000+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5577840" y="1993392"/>
            <a:ext cx="1600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49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lecturas totales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296912" y="1280160"/>
            <a:ext cx="1600200" cy="1188720"/>
          </a:xfrm>
          <a:prstGeom prst="rect">
            <a:avLst/>
          </a:prstGeom>
          <a:solidFill>
            <a:srgbClr val="F4F5F7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2" name="Shape 10"/>
          <p:cNvSpPr/>
          <p:nvPr/>
        </p:nvSpPr>
        <p:spPr>
          <a:xfrm>
            <a:off x="7296912" y="1280160"/>
            <a:ext cx="1600200" cy="64008"/>
          </a:xfrm>
          <a:prstGeom prst="rect">
            <a:avLst/>
          </a:prstGeom>
          <a:solidFill>
            <a:srgbClr val="FF441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3" name="Text 11"/>
          <p:cNvSpPr/>
          <p:nvPr/>
        </p:nvSpPr>
        <p:spPr>
          <a:xfrm>
            <a:off x="7296912" y="1417320"/>
            <a:ext cx="1600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441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 seg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296912" y="1993392"/>
            <a:ext cx="1600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49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intervalo de muestreo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577840" y="2697480"/>
            <a:ext cx="1600200" cy="1188720"/>
          </a:xfrm>
          <a:prstGeom prst="rect">
            <a:avLst/>
          </a:prstGeom>
          <a:solidFill>
            <a:srgbClr val="F4F5F7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6" name="Shape 14"/>
          <p:cNvSpPr/>
          <p:nvPr/>
        </p:nvSpPr>
        <p:spPr>
          <a:xfrm>
            <a:off x="5577840" y="2697480"/>
            <a:ext cx="1600200" cy="64008"/>
          </a:xfrm>
          <a:prstGeom prst="rect">
            <a:avLst/>
          </a:prstGeom>
          <a:solidFill>
            <a:srgbClr val="FF441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7" name="Text 15"/>
          <p:cNvSpPr/>
          <p:nvPr/>
        </p:nvSpPr>
        <p:spPr>
          <a:xfrm>
            <a:off x="5577840" y="2834640"/>
            <a:ext cx="1600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441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 días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5577840" y="3410712"/>
            <a:ext cx="1600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49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cobertura histórica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296912" y="2697480"/>
            <a:ext cx="1600200" cy="1188720"/>
          </a:xfrm>
          <a:prstGeom prst="rect">
            <a:avLst/>
          </a:prstGeom>
          <a:solidFill>
            <a:srgbClr val="F4F5F7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0" name="Shape 18"/>
          <p:cNvSpPr/>
          <p:nvPr/>
        </p:nvSpPr>
        <p:spPr>
          <a:xfrm>
            <a:off x="7296912" y="2697480"/>
            <a:ext cx="1600200" cy="64008"/>
          </a:xfrm>
          <a:prstGeom prst="rect">
            <a:avLst/>
          </a:prstGeom>
          <a:solidFill>
            <a:srgbClr val="FF441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1" name="Text 19"/>
          <p:cNvSpPr/>
          <p:nvPr/>
        </p:nvSpPr>
        <p:spPr>
          <a:xfrm>
            <a:off x="7296912" y="2834640"/>
            <a:ext cx="1600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441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100 CSVs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7296912" y="3410712"/>
            <a:ext cx="1600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49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archivos de datos procesados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Arquitectura de la Solución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FF441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5" name="Shape 3"/>
          <p:cNvSpPr/>
          <p:nvPr/>
        </p:nvSpPr>
        <p:spPr>
          <a:xfrm>
            <a:off x="320040" y="1188720"/>
            <a:ext cx="1965960" cy="3657600"/>
          </a:xfrm>
          <a:prstGeom prst="rect">
            <a:avLst/>
          </a:prstGeom>
          <a:solidFill>
            <a:srgbClr val="E8F4F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6" name="Shape 4"/>
          <p:cNvSpPr/>
          <p:nvPr/>
        </p:nvSpPr>
        <p:spPr>
          <a:xfrm>
            <a:off x="320040" y="1188720"/>
            <a:ext cx="1965960" cy="73152"/>
          </a:xfrm>
          <a:prstGeom prst="rect">
            <a:avLst/>
          </a:prstGeom>
          <a:solidFill>
            <a:srgbClr val="FF441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320040" y="1280160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20040" y="1783080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kern="0" spc="100" dirty="0">
                <a:solidFill>
                  <a:srgbClr val="FF4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LAYER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84048" y="2176272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CSVs · Pandas · @st.cache_data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57200" y="2606040"/>
            <a:ext cx="1691640" cy="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Text 9"/>
          <p:cNvSpPr/>
          <p:nvPr/>
        </p:nvSpPr>
        <p:spPr>
          <a:xfrm>
            <a:off x="384048" y="2697480"/>
            <a:ext cx="18288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dinámica sin pre-merging. Parsing vectorizado de timestamps JS Date.toString() — 50× más rápido que dateutil row-by-row.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468880" y="1188720"/>
            <a:ext cx="1965960" cy="3657600"/>
          </a:xfrm>
          <a:prstGeom prst="rect">
            <a:avLst/>
          </a:prstGeom>
          <a:solidFill>
            <a:srgbClr val="FEF3E2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3" name="Shape 11"/>
          <p:cNvSpPr/>
          <p:nvPr/>
        </p:nvSpPr>
        <p:spPr>
          <a:xfrm>
            <a:off x="2468880" y="1188720"/>
            <a:ext cx="1965960" cy="73152"/>
          </a:xfrm>
          <a:prstGeom prst="rect">
            <a:avLst/>
          </a:prstGeom>
          <a:solidFill>
            <a:srgbClr val="FF441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4" name="Text 12"/>
          <p:cNvSpPr/>
          <p:nvPr/>
        </p:nvSpPr>
        <p:spPr>
          <a:xfrm>
            <a:off x="2468880" y="1280160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468880" y="1783080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kern="0" spc="100" dirty="0">
                <a:solidFill>
                  <a:srgbClr val="FF4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PROCESSING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532888" y="2176272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 · Rolling Z-Score · Feature Engineering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2606040" y="2606040"/>
            <a:ext cx="1691640" cy="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8" name="Text 16"/>
          <p:cNvSpPr/>
          <p:nvPr/>
        </p:nvSpPr>
        <p:spPr>
          <a:xfrm>
            <a:off x="2532888" y="2697480"/>
            <a:ext cx="18288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anomalías con z-score local (ventana 5 min). Hora, día de semana, fin de semana extraídos automáticamente.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617720" y="1188720"/>
            <a:ext cx="1965960" cy="3657600"/>
          </a:xfrm>
          <a:prstGeom prst="rect">
            <a:avLst/>
          </a:prstGeom>
          <a:solidFill>
            <a:srgbClr val="E8F8E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 dirty="0"/>
          </a:p>
        </p:txBody>
      </p:sp>
      <p:sp>
        <p:nvSpPr>
          <p:cNvPr id="20" name="Shape 18"/>
          <p:cNvSpPr/>
          <p:nvPr/>
        </p:nvSpPr>
        <p:spPr>
          <a:xfrm>
            <a:off x="4617720" y="1188720"/>
            <a:ext cx="1965960" cy="73152"/>
          </a:xfrm>
          <a:prstGeom prst="rect">
            <a:avLst/>
          </a:prstGeom>
          <a:solidFill>
            <a:srgbClr val="FF441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1" name="Text 19"/>
          <p:cNvSpPr/>
          <p:nvPr/>
        </p:nvSpPr>
        <p:spPr>
          <a:xfrm>
            <a:off x="4617720" y="1280160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617720" y="1783080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kern="0" spc="100" dirty="0">
                <a:solidFill>
                  <a:srgbClr val="FF4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681728" y="2176272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· Plotly · 7 gráficos interactivos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754880" y="2606040"/>
            <a:ext cx="1691640" cy="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5" name="Text 23"/>
          <p:cNvSpPr/>
          <p:nvPr/>
        </p:nvSpPr>
        <p:spPr>
          <a:xfrm>
            <a:off x="4681728" y="2697480"/>
            <a:ext cx="18288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Rango temporal, heatmap, barras diarias, patrón horario, anomalías, distribución semana/fin de semana, promedio por día.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66560" y="1188720"/>
            <a:ext cx="1965960" cy="3657600"/>
          </a:xfrm>
          <a:prstGeom prst="rect">
            <a:avLst/>
          </a:prstGeom>
          <a:solidFill>
            <a:srgbClr val="F3E8F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7" name="Shape 25"/>
          <p:cNvSpPr/>
          <p:nvPr/>
        </p:nvSpPr>
        <p:spPr>
          <a:xfrm>
            <a:off x="6766560" y="1188720"/>
            <a:ext cx="1965960" cy="73152"/>
          </a:xfrm>
          <a:prstGeom prst="rect">
            <a:avLst/>
          </a:prstGeom>
          <a:solidFill>
            <a:srgbClr val="FF441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8" name="Text 26"/>
          <p:cNvSpPr/>
          <p:nvPr/>
        </p:nvSpPr>
        <p:spPr>
          <a:xfrm>
            <a:off x="6766560" y="1280160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6766560" y="1783080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kern="0" spc="100" dirty="0">
                <a:solidFill>
                  <a:srgbClr val="FF4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CHATBOT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830568" y="2176272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2.5 Flash · Seeded History · Streaming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903720" y="2606040"/>
            <a:ext cx="1691640" cy="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2" name="Text 30"/>
          <p:cNvSpPr/>
          <p:nvPr/>
        </p:nvSpPr>
        <p:spPr>
          <a:xfrm>
            <a:off x="6830568" y="2697480"/>
            <a:ext cx="18288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de datos inyectado una sola vez como primer turno. Respuestas en streaming token a token. Soporte español/inglés.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2267712" y="3017520"/>
            <a:ext cx="201168" cy="0"/>
          </a:xfrm>
          <a:prstGeom prst="line">
            <a:avLst/>
          </a:prstGeom>
          <a:noFill/>
          <a:ln w="25400">
            <a:solidFill>
              <a:srgbClr val="FF441F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4" name="Shape 32"/>
          <p:cNvSpPr/>
          <p:nvPr/>
        </p:nvSpPr>
        <p:spPr>
          <a:xfrm>
            <a:off x="4416552" y="3017520"/>
            <a:ext cx="201168" cy="0"/>
          </a:xfrm>
          <a:prstGeom prst="line">
            <a:avLst/>
          </a:prstGeom>
          <a:noFill/>
          <a:ln w="25400">
            <a:solidFill>
              <a:srgbClr val="FF441F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5" name="Shape 33"/>
          <p:cNvSpPr/>
          <p:nvPr/>
        </p:nvSpPr>
        <p:spPr>
          <a:xfrm>
            <a:off x="6565392" y="3017520"/>
            <a:ext cx="201168" cy="0"/>
          </a:xfrm>
          <a:prstGeom prst="line">
            <a:avLst/>
          </a:prstGeom>
          <a:noFill/>
          <a:ln w="25400">
            <a:solidFill>
              <a:srgbClr val="FF441F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Dashboard de Visualización — 7 Gráficos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FF441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5" name="Shape 3"/>
          <p:cNvSpPr/>
          <p:nvPr/>
        </p:nvSpPr>
        <p:spPr>
          <a:xfrm>
            <a:off x="274320" y="1143000"/>
            <a:ext cx="2606040" cy="15087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6" name="Shape 4"/>
          <p:cNvSpPr/>
          <p:nvPr/>
        </p:nvSpPr>
        <p:spPr>
          <a:xfrm>
            <a:off x="365760" y="1234440"/>
            <a:ext cx="347472" cy="347472"/>
          </a:xfrm>
          <a:prstGeom prst="ellipse">
            <a:avLst/>
          </a:prstGeom>
          <a:solidFill>
            <a:srgbClr val="FF441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365760" y="123444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29184" y="1655064"/>
            <a:ext cx="24963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Serie de Tiempo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29184" y="2039112"/>
            <a:ext cx="24963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849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Tendencia global con range selector (1h / 6h / 1d)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154680" y="1143000"/>
            <a:ext cx="2606040" cy="15087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1" name="Shape 9"/>
          <p:cNvSpPr/>
          <p:nvPr/>
        </p:nvSpPr>
        <p:spPr>
          <a:xfrm>
            <a:off x="3246120" y="1234440"/>
            <a:ext cx="347472" cy="347472"/>
          </a:xfrm>
          <a:prstGeom prst="ellipse">
            <a:avLst/>
          </a:prstGeom>
          <a:solidFill>
            <a:srgbClr val="FF441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/>
          <p:nvPr/>
        </p:nvSpPr>
        <p:spPr>
          <a:xfrm>
            <a:off x="3246120" y="123444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209544" y="1655064"/>
            <a:ext cx="24963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Heatmap Hora × Día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209544" y="2039112"/>
            <a:ext cx="24963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849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horas y días tuvieron más/menos tiendas online?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035040" y="1143000"/>
            <a:ext cx="2834640" cy="15087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6" name="Shape 14"/>
          <p:cNvSpPr/>
          <p:nvPr/>
        </p:nvSpPr>
        <p:spPr>
          <a:xfrm>
            <a:off x="6126480" y="1234440"/>
            <a:ext cx="347472" cy="347472"/>
          </a:xfrm>
          <a:prstGeom prst="ellipse">
            <a:avLst/>
          </a:prstGeom>
          <a:solidFill>
            <a:srgbClr val="FF441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7" name="Text 15"/>
          <p:cNvSpPr/>
          <p:nvPr/>
        </p:nvSpPr>
        <p:spPr>
          <a:xfrm>
            <a:off x="6126480" y="123444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089904" y="1655064"/>
            <a:ext cx="2724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Barras Diarias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89904" y="2039112"/>
            <a:ext cx="27249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849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Peak, promedio y mínimo por día (Feb 1–6)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74320" y="2834640"/>
            <a:ext cx="2103120" cy="15087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1" name="Shape 19"/>
          <p:cNvSpPr/>
          <p:nvPr/>
        </p:nvSpPr>
        <p:spPr>
          <a:xfrm>
            <a:off x="365760" y="2926080"/>
            <a:ext cx="347472" cy="347472"/>
          </a:xfrm>
          <a:prstGeom prst="ellipse">
            <a:avLst/>
          </a:prstGeom>
          <a:solidFill>
            <a:srgbClr val="FF441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2" name="Text 20"/>
          <p:cNvSpPr/>
          <p:nvPr/>
        </p:nvSpPr>
        <p:spPr>
          <a:xfrm>
            <a:off x="365760" y="292608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9184" y="3346704"/>
            <a:ext cx="1993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Patrón Horario ±σ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29184" y="3730752"/>
            <a:ext cx="199339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849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intradiaria típica y variabilidad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560320" y="2834640"/>
            <a:ext cx="2103120" cy="15087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6" name="Shape 24"/>
          <p:cNvSpPr/>
          <p:nvPr/>
        </p:nvSpPr>
        <p:spPr>
          <a:xfrm>
            <a:off x="2651760" y="2926080"/>
            <a:ext cx="347472" cy="347472"/>
          </a:xfrm>
          <a:prstGeom prst="ellipse">
            <a:avLst/>
          </a:prstGeom>
          <a:solidFill>
            <a:srgbClr val="FF441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7" name="Text 25"/>
          <p:cNvSpPr/>
          <p:nvPr/>
        </p:nvSpPr>
        <p:spPr>
          <a:xfrm>
            <a:off x="2651760" y="292608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615184" y="3346704"/>
            <a:ext cx="1993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Detección de Anomalías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615184" y="3730752"/>
            <a:ext cx="199339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849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Z-score local sobre ventana de 5 minutos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846320" y="2834640"/>
            <a:ext cx="2103120" cy="15087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31" name="Shape 29"/>
          <p:cNvSpPr/>
          <p:nvPr/>
        </p:nvSpPr>
        <p:spPr>
          <a:xfrm>
            <a:off x="4937760" y="2926080"/>
            <a:ext cx="347472" cy="347472"/>
          </a:xfrm>
          <a:prstGeom prst="ellipse">
            <a:avLst/>
          </a:prstGeom>
          <a:solidFill>
            <a:srgbClr val="FF441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2" name="Text 30"/>
          <p:cNvSpPr/>
          <p:nvPr/>
        </p:nvSpPr>
        <p:spPr>
          <a:xfrm>
            <a:off x="4937760" y="292608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901184" y="3346704"/>
            <a:ext cx="1993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Semana vs Fin de Semana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901184" y="3730752"/>
            <a:ext cx="199339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849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Histograma comparativo de las dos poblaciones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7132320" y="2834640"/>
            <a:ext cx="1828800" cy="15087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36" name="Shape 34"/>
          <p:cNvSpPr/>
          <p:nvPr/>
        </p:nvSpPr>
        <p:spPr>
          <a:xfrm>
            <a:off x="7223760" y="2926080"/>
            <a:ext cx="347472" cy="347472"/>
          </a:xfrm>
          <a:prstGeom prst="ellipse">
            <a:avLst/>
          </a:prstGeom>
          <a:solidFill>
            <a:srgbClr val="FF441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7" name="Text 35"/>
          <p:cNvSpPr/>
          <p:nvPr/>
        </p:nvSpPr>
        <p:spPr>
          <a:xfrm>
            <a:off x="7223760" y="292608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7187184" y="3346704"/>
            <a:ext cx="17190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Promedio por Día de Semana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187184" y="3730752"/>
            <a:ext cx="17190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849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día de la semana tuvo mayor disponibilidad?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Asistente IA — Gemini 2.5 Flash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FF441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5" name="Shape 3"/>
          <p:cNvSpPr/>
          <p:nvPr/>
        </p:nvSpPr>
        <p:spPr>
          <a:xfrm>
            <a:off x="320040" y="1143000"/>
            <a:ext cx="4846320" cy="822960"/>
          </a:xfrm>
          <a:prstGeom prst="rect">
            <a:avLst/>
          </a:prstGeom>
          <a:solidFill>
            <a:srgbClr val="F4F5F7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 dirty="0"/>
          </a:p>
        </p:txBody>
      </p:sp>
      <p:sp>
        <p:nvSpPr>
          <p:cNvPr id="6" name="Text 4"/>
          <p:cNvSpPr/>
          <p:nvPr/>
        </p:nvSpPr>
        <p:spPr>
          <a:xfrm>
            <a:off x="411480" y="1143000"/>
            <a:ext cx="594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51560" y="1188720"/>
            <a:ext cx="3977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4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Bilingüe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51560" y="1508760"/>
            <a:ext cx="3977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 en español e inglés detectando el idioma del usuario.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" y="2093976"/>
            <a:ext cx="4846320" cy="822960"/>
          </a:xfrm>
          <a:prstGeom prst="rect">
            <a:avLst/>
          </a:prstGeom>
          <a:solidFill>
            <a:srgbClr val="F4F5F7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 dirty="0"/>
          </a:p>
        </p:txBody>
      </p:sp>
      <p:sp>
        <p:nvSpPr>
          <p:cNvPr id="10" name="Text 8"/>
          <p:cNvSpPr/>
          <p:nvPr/>
        </p:nvSpPr>
        <p:spPr>
          <a:xfrm>
            <a:off x="411480" y="2093976"/>
            <a:ext cx="594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51560" y="2139696"/>
            <a:ext cx="3977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4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Streaming en Tiempo Real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51560" y="2459736"/>
            <a:ext cx="3977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a token con st.write_stream — cero latencia percibida.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0040" y="3044952"/>
            <a:ext cx="4846320" cy="822960"/>
          </a:xfrm>
          <a:prstGeom prst="rect">
            <a:avLst/>
          </a:prstGeom>
          <a:solidFill>
            <a:srgbClr val="F4F5F7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 dirty="0"/>
          </a:p>
        </p:txBody>
      </p:sp>
      <p:sp>
        <p:nvSpPr>
          <p:cNvPr id="14" name="Text 12"/>
          <p:cNvSpPr/>
          <p:nvPr/>
        </p:nvSpPr>
        <p:spPr>
          <a:xfrm>
            <a:off x="411480" y="3044952"/>
            <a:ext cx="594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51560" y="3090672"/>
            <a:ext cx="3977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4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 Seeded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51560" y="3410712"/>
            <a:ext cx="3977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del dataset (~3 KB) inyectado una sola vez como primer turno, no en cada mensaje.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20040" y="3995928"/>
            <a:ext cx="4846320" cy="822960"/>
          </a:xfrm>
          <a:prstGeom prst="rect">
            <a:avLst/>
          </a:prstGeom>
          <a:solidFill>
            <a:srgbClr val="F4F5F7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 dirty="0"/>
          </a:p>
        </p:txBody>
      </p:sp>
      <p:sp>
        <p:nvSpPr>
          <p:cNvPr id="18" name="Text 16"/>
          <p:cNvSpPr/>
          <p:nvPr/>
        </p:nvSpPr>
        <p:spPr>
          <a:xfrm>
            <a:off x="411480" y="3995928"/>
            <a:ext cx="594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51560" y="4041648"/>
            <a:ext cx="3977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4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Secrets Seguros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51560" y="4361688"/>
            <a:ext cx="3977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en .streamlit/secrets.toml, excluida del repo. Badge Naranja 'IA Conectada' si está configurada.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40680" y="1143000"/>
            <a:ext cx="3383280" cy="3794760"/>
          </a:xfrm>
          <a:prstGeom prst="rect">
            <a:avLst/>
          </a:prstGeom>
          <a:solidFill>
            <a:srgbClr val="F8F9FA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2" name="Text 20"/>
          <p:cNvSpPr/>
          <p:nvPr/>
        </p:nvSpPr>
        <p:spPr>
          <a:xfrm>
            <a:off x="5440680" y="1143000"/>
            <a:ext cx="3383280" cy="384048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💬  Asistente IA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532120" y="1600200"/>
            <a:ext cx="3063240" cy="594360"/>
          </a:xfrm>
          <a:prstGeom prst="roundRect">
            <a:avLst>
              <a:gd name="adj" fmla="val 12308"/>
            </a:avLst>
          </a:prstGeom>
          <a:solidFill>
            <a:srgbClr val="E8F4FD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4" name="Text 22"/>
          <p:cNvSpPr/>
          <p:nvPr/>
        </p:nvSpPr>
        <p:spPr>
          <a:xfrm>
            <a:off x="5605272" y="1645920"/>
            <a:ext cx="291693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hora tuvo más tiendas online?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623560" y="2331720"/>
            <a:ext cx="3063240" cy="594360"/>
          </a:xfrm>
          <a:prstGeom prst="roundRect">
            <a:avLst>
              <a:gd name="adj" fmla="val 12308"/>
            </a:avLst>
          </a:prstGeom>
          <a:solidFill>
            <a:srgbClr val="FFF3E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6" name="Text 24"/>
          <p:cNvSpPr/>
          <p:nvPr/>
        </p:nvSpPr>
        <p:spPr>
          <a:xfrm>
            <a:off x="5696712" y="2377440"/>
            <a:ext cx="291693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las 12:00 y 13:00 se observó el mayor pico de disponibilidad, con un promedio de 892 tiendas activas.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5532120" y="3063240"/>
            <a:ext cx="3063240" cy="594360"/>
          </a:xfrm>
          <a:prstGeom prst="roundRect">
            <a:avLst>
              <a:gd name="adj" fmla="val 12308"/>
            </a:avLst>
          </a:prstGeom>
          <a:solidFill>
            <a:srgbClr val="E8F4FD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8" name="Text 26"/>
          <p:cNvSpPr/>
          <p:nvPr/>
        </p:nvSpPr>
        <p:spPr>
          <a:xfrm>
            <a:off x="5605272" y="3108960"/>
            <a:ext cx="291693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¿Hubo anomalías el viernes?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623560" y="3794760"/>
            <a:ext cx="3063240" cy="594360"/>
          </a:xfrm>
          <a:prstGeom prst="roundRect">
            <a:avLst>
              <a:gd name="adj" fmla="val 12308"/>
            </a:avLst>
          </a:prstGeom>
          <a:solidFill>
            <a:srgbClr val="FFF3E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0" name="Text 28"/>
          <p:cNvSpPr/>
          <p:nvPr/>
        </p:nvSpPr>
        <p:spPr>
          <a:xfrm>
            <a:off x="5696712" y="3840480"/>
            <a:ext cx="291693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Sí, detecté 3 caídas bruscas el viernes 6 de febrero, la más severa a las 09:14 con una caída del 18%.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Decisiones Técnicas Clave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FF441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5" name="Shape 3"/>
          <p:cNvSpPr/>
          <p:nvPr/>
        </p:nvSpPr>
        <p:spPr>
          <a:xfrm>
            <a:off x="320040" y="1143000"/>
            <a:ext cx="4160520" cy="1737360"/>
          </a:xfrm>
          <a:prstGeom prst="rect">
            <a:avLst/>
          </a:prstGeom>
          <a:solidFill>
            <a:srgbClr val="F4F5F7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6" name="Shape 4"/>
          <p:cNvSpPr/>
          <p:nvPr/>
        </p:nvSpPr>
        <p:spPr>
          <a:xfrm>
            <a:off x="320040" y="1143000"/>
            <a:ext cx="54864" cy="1737360"/>
          </a:xfrm>
          <a:prstGeom prst="rect">
            <a:avLst/>
          </a:prstGeom>
          <a:solidFill>
            <a:srgbClr val="FF441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4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¿Por qué Streamlit?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600200"/>
            <a:ext cx="39319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Convierte un script Python en web app completa con cero HTML/JS. Primitivas nativas de chat (st.chat_input, st.write_stream) ideales para el chatbot.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57200" y="249631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 Alternativa descartada: Flask/FastAPI habrían requerido un frontend separado.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846320" y="1143000"/>
            <a:ext cx="4160520" cy="1737360"/>
          </a:xfrm>
          <a:prstGeom prst="rect">
            <a:avLst/>
          </a:prstGeom>
          <a:solidFill>
            <a:srgbClr val="F4F5F7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1" name="Shape 9"/>
          <p:cNvSpPr/>
          <p:nvPr/>
        </p:nvSpPr>
        <p:spPr>
          <a:xfrm>
            <a:off x="4846320" y="1143000"/>
            <a:ext cx="54864" cy="1737360"/>
          </a:xfrm>
          <a:prstGeom prst="rect">
            <a:avLst/>
          </a:prstGeom>
          <a:solidFill>
            <a:srgbClr val="FF441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/>
          <p:nvPr/>
        </p:nvSpPr>
        <p:spPr>
          <a:xfrm>
            <a:off x="4983480" y="123444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4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¿Por qué carga dinámica de CSVs?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83480" y="1600200"/>
            <a:ext cx="39319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Mantiene el repo limpio (datos crudos siguen siendo crudos) y facilita agregar más archivos sin pasos de pre-procesamiento. @st.cache_data garantiza una sola carga por sesión.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983480" y="249631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 Alternativa descartada: Un único CSV pre-mergeado habría acoplado el pipeline de datos.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20040" y="3017520"/>
            <a:ext cx="4160520" cy="1737360"/>
          </a:xfrm>
          <a:prstGeom prst="rect">
            <a:avLst/>
          </a:prstGeom>
          <a:solidFill>
            <a:srgbClr val="F4F5F7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6" name="Shape 14"/>
          <p:cNvSpPr/>
          <p:nvPr/>
        </p:nvSpPr>
        <p:spPr>
          <a:xfrm>
            <a:off x="320040" y="3017520"/>
            <a:ext cx="54864" cy="1737360"/>
          </a:xfrm>
          <a:prstGeom prst="rect">
            <a:avLst/>
          </a:prstGeom>
          <a:solidFill>
            <a:srgbClr val="FF441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4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¿Por qué Gemini 2.5 Flash?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3474720"/>
            <a:ext cx="39319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2.0-flash tenía limit:0 en el tier gratuito en el momento del desarrollo. El SDK google-genai ≥1.0.0 (no el deprecado) es requerido para este modelo.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7200" y="437083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 Alternativa descartada: GPT-4o habría requerido clave de pago; Gemini es gratuito con cuota razonable.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846320" y="3017520"/>
            <a:ext cx="4160520" cy="1737360"/>
          </a:xfrm>
          <a:prstGeom prst="rect">
            <a:avLst/>
          </a:prstGeom>
          <a:solidFill>
            <a:srgbClr val="F4F5F7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1" name="Shape 19"/>
          <p:cNvSpPr/>
          <p:nvPr/>
        </p:nvSpPr>
        <p:spPr>
          <a:xfrm>
            <a:off x="4846320" y="3017520"/>
            <a:ext cx="54864" cy="1737360"/>
          </a:xfrm>
          <a:prstGeom prst="rect">
            <a:avLst/>
          </a:prstGeom>
          <a:solidFill>
            <a:srgbClr val="FF441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2" name="Text 20"/>
          <p:cNvSpPr/>
          <p:nvPr/>
        </p:nvSpPr>
        <p:spPr>
          <a:xfrm>
            <a:off x="4983480" y="310896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4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¿Por qué z-score local?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983480" y="3474720"/>
            <a:ext cx="39319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caída normal nocturna no dispara alertas porque la comparación es con el promedio local (ventana 5 min), no el global. Solo cambios bruscos se marcan como anomalías.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983480" y="437083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 Alternativa descartada: Z-score global habría producido falsos positivos en horas de bajo tráfico.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28600"/>
            <a:ext cx="54864" cy="54864"/>
          </a:xfrm>
          <a:prstGeom prst="ellipse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1463040" y="228600"/>
            <a:ext cx="54864" cy="54864"/>
          </a:xfrm>
          <a:prstGeom prst="ellipse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4" name="Shape 2"/>
          <p:cNvSpPr/>
          <p:nvPr/>
        </p:nvSpPr>
        <p:spPr>
          <a:xfrm>
            <a:off x="2560320" y="228600"/>
            <a:ext cx="54864" cy="54864"/>
          </a:xfrm>
          <a:prstGeom prst="ellipse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5" name="Shape 3"/>
          <p:cNvSpPr/>
          <p:nvPr/>
        </p:nvSpPr>
        <p:spPr>
          <a:xfrm>
            <a:off x="3657600" y="228600"/>
            <a:ext cx="54864" cy="54864"/>
          </a:xfrm>
          <a:prstGeom prst="ellipse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6" name="Shape 4"/>
          <p:cNvSpPr/>
          <p:nvPr/>
        </p:nvSpPr>
        <p:spPr>
          <a:xfrm>
            <a:off x="4754880" y="228600"/>
            <a:ext cx="54864" cy="54864"/>
          </a:xfrm>
          <a:prstGeom prst="ellipse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7" name="Shape 5"/>
          <p:cNvSpPr/>
          <p:nvPr/>
        </p:nvSpPr>
        <p:spPr>
          <a:xfrm>
            <a:off x="5852160" y="228600"/>
            <a:ext cx="54864" cy="54864"/>
          </a:xfrm>
          <a:prstGeom prst="ellipse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8" name="Shape 6"/>
          <p:cNvSpPr/>
          <p:nvPr/>
        </p:nvSpPr>
        <p:spPr>
          <a:xfrm>
            <a:off x="6949440" y="228600"/>
            <a:ext cx="54864" cy="54864"/>
          </a:xfrm>
          <a:prstGeom prst="ellipse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9" name="Shape 7"/>
          <p:cNvSpPr/>
          <p:nvPr/>
        </p:nvSpPr>
        <p:spPr>
          <a:xfrm>
            <a:off x="8046720" y="228600"/>
            <a:ext cx="54864" cy="54864"/>
          </a:xfrm>
          <a:prstGeom prst="ellipse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0" name="Shape 8"/>
          <p:cNvSpPr/>
          <p:nvPr/>
        </p:nvSpPr>
        <p:spPr>
          <a:xfrm>
            <a:off x="365760" y="1417320"/>
            <a:ext cx="54864" cy="54864"/>
          </a:xfrm>
          <a:prstGeom prst="ellipse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1" name="Shape 9"/>
          <p:cNvSpPr/>
          <p:nvPr/>
        </p:nvSpPr>
        <p:spPr>
          <a:xfrm>
            <a:off x="1463040" y="1417320"/>
            <a:ext cx="54864" cy="54864"/>
          </a:xfrm>
          <a:prstGeom prst="ellipse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2" name="Shape 10"/>
          <p:cNvSpPr/>
          <p:nvPr/>
        </p:nvSpPr>
        <p:spPr>
          <a:xfrm>
            <a:off x="2560320" y="1417320"/>
            <a:ext cx="54864" cy="54864"/>
          </a:xfrm>
          <a:prstGeom prst="ellipse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3" name="Shape 11"/>
          <p:cNvSpPr/>
          <p:nvPr/>
        </p:nvSpPr>
        <p:spPr>
          <a:xfrm>
            <a:off x="3657600" y="1417320"/>
            <a:ext cx="54864" cy="54864"/>
          </a:xfrm>
          <a:prstGeom prst="ellipse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4" name="Shape 12"/>
          <p:cNvSpPr/>
          <p:nvPr/>
        </p:nvSpPr>
        <p:spPr>
          <a:xfrm>
            <a:off x="4754880" y="1417320"/>
            <a:ext cx="54864" cy="54864"/>
          </a:xfrm>
          <a:prstGeom prst="ellipse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5" name="Shape 13"/>
          <p:cNvSpPr/>
          <p:nvPr/>
        </p:nvSpPr>
        <p:spPr>
          <a:xfrm>
            <a:off x="5852160" y="1417320"/>
            <a:ext cx="54864" cy="54864"/>
          </a:xfrm>
          <a:prstGeom prst="ellipse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6" name="Shape 14"/>
          <p:cNvSpPr/>
          <p:nvPr/>
        </p:nvSpPr>
        <p:spPr>
          <a:xfrm>
            <a:off x="6949440" y="1417320"/>
            <a:ext cx="54864" cy="54864"/>
          </a:xfrm>
          <a:prstGeom prst="ellipse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7" name="Shape 15"/>
          <p:cNvSpPr/>
          <p:nvPr/>
        </p:nvSpPr>
        <p:spPr>
          <a:xfrm>
            <a:off x="8046720" y="1417320"/>
            <a:ext cx="54864" cy="54864"/>
          </a:xfrm>
          <a:prstGeom prst="ellipse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8" name="Shape 16"/>
          <p:cNvSpPr/>
          <p:nvPr/>
        </p:nvSpPr>
        <p:spPr>
          <a:xfrm>
            <a:off x="365760" y="2606040"/>
            <a:ext cx="54864" cy="54864"/>
          </a:xfrm>
          <a:prstGeom prst="ellipse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9" name="Shape 17"/>
          <p:cNvSpPr/>
          <p:nvPr/>
        </p:nvSpPr>
        <p:spPr>
          <a:xfrm>
            <a:off x="1463040" y="2606040"/>
            <a:ext cx="54864" cy="54864"/>
          </a:xfrm>
          <a:prstGeom prst="ellipse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0" name="Shape 18"/>
          <p:cNvSpPr/>
          <p:nvPr/>
        </p:nvSpPr>
        <p:spPr>
          <a:xfrm>
            <a:off x="2560320" y="2606040"/>
            <a:ext cx="54864" cy="54864"/>
          </a:xfrm>
          <a:prstGeom prst="ellipse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1" name="Shape 19"/>
          <p:cNvSpPr/>
          <p:nvPr/>
        </p:nvSpPr>
        <p:spPr>
          <a:xfrm>
            <a:off x="3657600" y="2606040"/>
            <a:ext cx="54864" cy="54864"/>
          </a:xfrm>
          <a:prstGeom prst="ellipse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2" name="Shape 20"/>
          <p:cNvSpPr/>
          <p:nvPr/>
        </p:nvSpPr>
        <p:spPr>
          <a:xfrm>
            <a:off x="4754880" y="2606040"/>
            <a:ext cx="54864" cy="54864"/>
          </a:xfrm>
          <a:prstGeom prst="ellipse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3" name="Shape 21"/>
          <p:cNvSpPr/>
          <p:nvPr/>
        </p:nvSpPr>
        <p:spPr>
          <a:xfrm>
            <a:off x="5852160" y="2606040"/>
            <a:ext cx="54864" cy="54864"/>
          </a:xfrm>
          <a:prstGeom prst="ellipse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4" name="Shape 22"/>
          <p:cNvSpPr/>
          <p:nvPr/>
        </p:nvSpPr>
        <p:spPr>
          <a:xfrm>
            <a:off x="6949440" y="2606040"/>
            <a:ext cx="54864" cy="54864"/>
          </a:xfrm>
          <a:prstGeom prst="ellipse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5" name="Shape 23"/>
          <p:cNvSpPr/>
          <p:nvPr/>
        </p:nvSpPr>
        <p:spPr>
          <a:xfrm>
            <a:off x="8046720" y="2606040"/>
            <a:ext cx="54864" cy="54864"/>
          </a:xfrm>
          <a:prstGeom prst="ellipse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6" name="Shape 24"/>
          <p:cNvSpPr/>
          <p:nvPr/>
        </p:nvSpPr>
        <p:spPr>
          <a:xfrm>
            <a:off x="365760" y="3794760"/>
            <a:ext cx="54864" cy="54864"/>
          </a:xfrm>
          <a:prstGeom prst="ellipse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7" name="Shape 25"/>
          <p:cNvSpPr/>
          <p:nvPr/>
        </p:nvSpPr>
        <p:spPr>
          <a:xfrm>
            <a:off x="1463040" y="3794760"/>
            <a:ext cx="54864" cy="54864"/>
          </a:xfrm>
          <a:prstGeom prst="ellipse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8" name="Shape 26"/>
          <p:cNvSpPr/>
          <p:nvPr/>
        </p:nvSpPr>
        <p:spPr>
          <a:xfrm>
            <a:off x="2560320" y="3794760"/>
            <a:ext cx="54864" cy="54864"/>
          </a:xfrm>
          <a:prstGeom prst="ellipse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9" name="Shape 27"/>
          <p:cNvSpPr/>
          <p:nvPr/>
        </p:nvSpPr>
        <p:spPr>
          <a:xfrm>
            <a:off x="3657600" y="3794760"/>
            <a:ext cx="54864" cy="54864"/>
          </a:xfrm>
          <a:prstGeom prst="ellipse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0" name="Shape 28"/>
          <p:cNvSpPr/>
          <p:nvPr/>
        </p:nvSpPr>
        <p:spPr>
          <a:xfrm>
            <a:off x="4754880" y="3794760"/>
            <a:ext cx="54864" cy="54864"/>
          </a:xfrm>
          <a:prstGeom prst="ellipse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1" name="Shape 29"/>
          <p:cNvSpPr/>
          <p:nvPr/>
        </p:nvSpPr>
        <p:spPr>
          <a:xfrm>
            <a:off x="5852160" y="3794760"/>
            <a:ext cx="54864" cy="54864"/>
          </a:xfrm>
          <a:prstGeom prst="ellipse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2" name="Shape 30"/>
          <p:cNvSpPr/>
          <p:nvPr/>
        </p:nvSpPr>
        <p:spPr>
          <a:xfrm>
            <a:off x="6949440" y="3794760"/>
            <a:ext cx="54864" cy="54864"/>
          </a:xfrm>
          <a:prstGeom prst="ellipse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3" name="Shape 31"/>
          <p:cNvSpPr/>
          <p:nvPr/>
        </p:nvSpPr>
        <p:spPr>
          <a:xfrm>
            <a:off x="8046720" y="3794760"/>
            <a:ext cx="54864" cy="54864"/>
          </a:xfrm>
          <a:prstGeom prst="ellipse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4" name="Text 3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¿Cómo usé la IA?</a:t>
            </a:r>
            <a:endParaRPr lang="en-US" sz="3400" dirty="0"/>
          </a:p>
        </p:txBody>
      </p:sp>
      <p:sp>
        <p:nvSpPr>
          <p:cNvPr id="35" name="Shape 33"/>
          <p:cNvSpPr/>
          <p:nvPr/>
        </p:nvSpPr>
        <p:spPr>
          <a:xfrm>
            <a:off x="457200" y="932688"/>
            <a:ext cx="1645920" cy="64008"/>
          </a:xfrm>
          <a:prstGeom prst="rect">
            <a:avLst/>
          </a:prstGeom>
          <a:solidFill>
            <a:srgbClr val="FF441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6" name="Shape 34"/>
          <p:cNvSpPr/>
          <p:nvPr/>
        </p:nvSpPr>
        <p:spPr>
          <a:xfrm>
            <a:off x="365760" y="1143000"/>
            <a:ext cx="1965960" cy="3566160"/>
          </a:xfrm>
          <a:prstGeom prst="rect">
            <a:avLst/>
          </a:prstGeom>
          <a:solidFill>
            <a:srgbClr val="253055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37" name="Shape 35"/>
          <p:cNvSpPr/>
          <p:nvPr/>
        </p:nvSpPr>
        <p:spPr>
          <a:xfrm>
            <a:off x="1051560" y="1234440"/>
            <a:ext cx="594360" cy="594360"/>
          </a:xfrm>
          <a:prstGeom prst="ellipse">
            <a:avLst/>
          </a:prstGeom>
          <a:solidFill>
            <a:srgbClr val="FF441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8" name="Text 36"/>
          <p:cNvSpPr/>
          <p:nvPr/>
        </p:nvSpPr>
        <p:spPr>
          <a:xfrm>
            <a:off x="1051560" y="123444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457200" y="196596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Diseño de Arquitectura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57200" y="2606040"/>
            <a:ext cx="1783080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Claude/ChatGPT ayudaron a evaluar opciones de stack (Streamlit vs Flask vs Next.js) y definir la separación en módulos: data_loader, chatbot, app.py.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2542032" y="1143000"/>
            <a:ext cx="1965960" cy="3566160"/>
          </a:xfrm>
          <a:prstGeom prst="rect">
            <a:avLst/>
          </a:prstGeom>
          <a:solidFill>
            <a:srgbClr val="253055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42" name="Shape 40"/>
          <p:cNvSpPr/>
          <p:nvPr/>
        </p:nvSpPr>
        <p:spPr>
          <a:xfrm>
            <a:off x="3227832" y="1234440"/>
            <a:ext cx="594360" cy="594360"/>
          </a:xfrm>
          <a:prstGeom prst="ellipse">
            <a:avLst/>
          </a:prstGeom>
          <a:solidFill>
            <a:srgbClr val="FF6B45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43" name="Text 41"/>
          <p:cNvSpPr/>
          <p:nvPr/>
        </p:nvSpPr>
        <p:spPr>
          <a:xfrm>
            <a:off x="3227832" y="123444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2633472" y="196596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Parsing Vectorizado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2633472" y="2606040"/>
            <a:ext cx="1783080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 del regex sobre columnas Date.toString() surgió de iterar con IA hasta eliminar el cuello de botella de 50× en el parsing de timestamps.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718304" y="1143000"/>
            <a:ext cx="1965960" cy="3566160"/>
          </a:xfrm>
          <a:prstGeom prst="rect">
            <a:avLst/>
          </a:prstGeom>
          <a:solidFill>
            <a:srgbClr val="253055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47" name="Shape 45"/>
          <p:cNvSpPr/>
          <p:nvPr/>
        </p:nvSpPr>
        <p:spPr>
          <a:xfrm>
            <a:off x="5404104" y="1234440"/>
            <a:ext cx="594360" cy="594360"/>
          </a:xfrm>
          <a:prstGeom prst="ellipse">
            <a:avLst/>
          </a:prstGeom>
          <a:solidFill>
            <a:srgbClr val="FF8C6A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48" name="Text 46"/>
          <p:cNvSpPr/>
          <p:nvPr/>
        </p:nvSpPr>
        <p:spPr>
          <a:xfrm>
            <a:off x="5404104" y="123444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49" name="Text 47"/>
          <p:cNvSpPr/>
          <p:nvPr/>
        </p:nvSpPr>
        <p:spPr>
          <a:xfrm>
            <a:off x="4809744" y="196596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Engineering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4809744" y="2606040"/>
            <a:ext cx="1783080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system prompt del chatbot fue refinado con IA para inyectar el contexto del dataset sin repetirlo en cada turno y habilitar respuestas bilingües.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6894576" y="1143000"/>
            <a:ext cx="1965960" cy="3566160"/>
          </a:xfrm>
          <a:prstGeom prst="rect">
            <a:avLst/>
          </a:prstGeom>
          <a:solidFill>
            <a:srgbClr val="253055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52" name="Shape 50"/>
          <p:cNvSpPr/>
          <p:nvPr/>
        </p:nvSpPr>
        <p:spPr>
          <a:xfrm>
            <a:off x="7580376" y="1234440"/>
            <a:ext cx="594360" cy="594360"/>
          </a:xfrm>
          <a:prstGeom prst="ellipse">
            <a:avLst/>
          </a:prstGeom>
          <a:solidFill>
            <a:srgbClr val="FFAD90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53" name="Text 51"/>
          <p:cNvSpPr/>
          <p:nvPr/>
        </p:nvSpPr>
        <p:spPr>
          <a:xfrm>
            <a:off x="7580376" y="123444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54" name="Text 52"/>
          <p:cNvSpPr/>
          <p:nvPr/>
        </p:nvSpPr>
        <p:spPr>
          <a:xfrm>
            <a:off x="6986016" y="196596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UX / Branding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6986016" y="2606040"/>
            <a:ext cx="1783080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variables CSS del tema Rappi (naranja, navy, pill-tabs, KPI cards con hover lift) fueron generadas y ajustadas iterativamente con asistencia de IA.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UX &amp; Diseño — Más Allá de lo Básico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FF441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5" name="Shape 3"/>
          <p:cNvSpPr/>
          <p:nvPr/>
        </p:nvSpPr>
        <p:spPr>
          <a:xfrm>
            <a:off x="274320" y="1097280"/>
            <a:ext cx="2651760" cy="1691640"/>
          </a:xfrm>
          <a:prstGeom prst="rect">
            <a:avLst/>
          </a:prstGeom>
          <a:solidFill>
            <a:srgbClr val="F4F5F7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6" name="Text 4"/>
          <p:cNvSpPr/>
          <p:nvPr/>
        </p:nvSpPr>
        <p:spPr>
          <a:xfrm>
            <a:off x="274320" y="11887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65760" y="169164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4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Rappi Custom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03911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8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Sidebar navy + borde naranja, tabs pill-style (activo: blanco/naranja), config.toml con color primario #FF441F.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3200400" y="1097280"/>
            <a:ext cx="2651760" cy="1691640"/>
          </a:xfrm>
          <a:prstGeom prst="rect">
            <a:avLst/>
          </a:prstGeom>
          <a:solidFill>
            <a:srgbClr val="F4F5F7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 dirty="0"/>
          </a:p>
        </p:txBody>
      </p:sp>
      <p:sp>
        <p:nvSpPr>
          <p:cNvPr id="10" name="Text 8"/>
          <p:cNvSpPr/>
          <p:nvPr/>
        </p:nvSpPr>
        <p:spPr>
          <a:xfrm>
            <a:off x="3200400" y="11887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291840" y="169164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4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Cards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291840" y="203911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8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 naranja superior + efecto hover lift. Valores calculados en tiempo real desde los datos filtrados.</a:t>
            </a:r>
            <a:endParaRPr lang="en-US" sz="880" dirty="0"/>
          </a:p>
        </p:txBody>
      </p:sp>
      <p:sp>
        <p:nvSpPr>
          <p:cNvPr id="13" name="Shape 11"/>
          <p:cNvSpPr/>
          <p:nvPr/>
        </p:nvSpPr>
        <p:spPr>
          <a:xfrm>
            <a:off x="6126480" y="1097280"/>
            <a:ext cx="2651760" cy="1691640"/>
          </a:xfrm>
          <a:prstGeom prst="rect">
            <a:avLst/>
          </a:prstGeom>
          <a:solidFill>
            <a:srgbClr val="F4F5F7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 dirty="0"/>
          </a:p>
        </p:txBody>
      </p:sp>
      <p:sp>
        <p:nvSpPr>
          <p:cNvPr id="14" name="Text 12"/>
          <p:cNvSpPr/>
          <p:nvPr/>
        </p:nvSpPr>
        <p:spPr>
          <a:xfrm>
            <a:off x="6126480" y="11887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217920" y="169164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4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Sidebar Interactivo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217920" y="203911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8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Slider para umbral de anomalías, filtros de rango de fechas. Toda la UI reactiva a cambios.</a:t>
            </a:r>
            <a:endParaRPr lang="en-US" sz="880" dirty="0"/>
          </a:p>
        </p:txBody>
      </p:sp>
      <p:sp>
        <p:nvSpPr>
          <p:cNvPr id="17" name="Shape 15"/>
          <p:cNvSpPr/>
          <p:nvPr/>
        </p:nvSpPr>
        <p:spPr>
          <a:xfrm>
            <a:off x="274320" y="2971800"/>
            <a:ext cx="2651760" cy="1691640"/>
          </a:xfrm>
          <a:prstGeom prst="rect">
            <a:avLst/>
          </a:prstGeom>
          <a:solidFill>
            <a:srgbClr val="F4F5F7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8" name="Text 16"/>
          <p:cNvSpPr/>
          <p:nvPr/>
        </p:nvSpPr>
        <p:spPr>
          <a:xfrm>
            <a:off x="274320" y="30632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365760" y="356616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4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Badge de Estado IA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391363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8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Badge verde 'IA Conectada' cuando la API key está configurada. Input visible como fallback si falta.</a:t>
            </a:r>
            <a:endParaRPr lang="en-US" sz="880" dirty="0"/>
          </a:p>
        </p:txBody>
      </p:sp>
      <p:sp>
        <p:nvSpPr>
          <p:cNvPr id="21" name="Shape 19"/>
          <p:cNvSpPr/>
          <p:nvPr/>
        </p:nvSpPr>
        <p:spPr>
          <a:xfrm>
            <a:off x="3200400" y="2971800"/>
            <a:ext cx="2651760" cy="1691640"/>
          </a:xfrm>
          <a:prstGeom prst="rect">
            <a:avLst/>
          </a:prstGeom>
          <a:solidFill>
            <a:srgbClr val="F4F5F7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 dirty="0"/>
          </a:p>
        </p:txBody>
      </p:sp>
      <p:sp>
        <p:nvSpPr>
          <p:cNvPr id="22" name="Text 20"/>
          <p:cNvSpPr/>
          <p:nvPr/>
        </p:nvSpPr>
        <p:spPr>
          <a:xfrm>
            <a:off x="3200400" y="30632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3291840" y="356616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4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Consistencia Visual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291840" y="391363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8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chart_style() helper centraliza tipografía, colores de grid y márgenes en los 7 gráficos Plotly.</a:t>
            </a:r>
            <a:endParaRPr lang="en-US" sz="880" dirty="0"/>
          </a:p>
        </p:txBody>
      </p:sp>
      <p:sp>
        <p:nvSpPr>
          <p:cNvPr id="25" name="Shape 23"/>
          <p:cNvSpPr/>
          <p:nvPr/>
        </p:nvSpPr>
        <p:spPr>
          <a:xfrm>
            <a:off x="6126480" y="2971800"/>
            <a:ext cx="2651760" cy="1691640"/>
          </a:xfrm>
          <a:prstGeom prst="rect">
            <a:avLst/>
          </a:prstGeom>
          <a:solidFill>
            <a:srgbClr val="F4F5F7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 dirty="0"/>
          </a:p>
        </p:txBody>
      </p:sp>
      <p:sp>
        <p:nvSpPr>
          <p:cNvPr id="26" name="Text 24"/>
          <p:cNvSpPr/>
          <p:nvPr/>
        </p:nvSpPr>
        <p:spPr>
          <a:xfrm>
            <a:off x="6126480" y="30632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6217920" y="356616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4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Claro Forzado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217920" y="391363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8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.streamlit/config.toml fuerza light theme para asegurar consistencia visual sin importar preferencias del sistema.</a:t>
            </a:r>
            <a:endParaRPr lang="en-US" sz="8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Estructura del Código &amp; Demo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FF441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5" name="Shape 3"/>
          <p:cNvSpPr/>
          <p:nvPr/>
        </p:nvSpPr>
        <p:spPr>
          <a:xfrm>
            <a:off x="320040" y="1143000"/>
            <a:ext cx="3840480" cy="3657600"/>
          </a:xfrm>
          <a:prstGeom prst="rect">
            <a:avLst/>
          </a:prstGeom>
          <a:solidFill>
            <a:srgbClr val="1E1E1E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6" name="Text 4"/>
          <p:cNvSpPr/>
          <p:nvPr/>
        </p:nvSpPr>
        <p:spPr>
          <a:xfrm>
            <a:off x="411480" y="1234440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44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📁  Rappi_Entregable/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691640"/>
            <a:ext cx="3611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app.py</a:t>
            </a:r>
            <a:r>
              <a:rPr lang="en-US" sz="880" i="1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app Streamlit principal</a:t>
            </a:r>
            <a:endParaRPr lang="en-US" sz="880" dirty="0"/>
          </a:p>
        </p:txBody>
      </p:sp>
      <p:sp>
        <p:nvSpPr>
          <p:cNvPr id="8" name="Text 6"/>
          <p:cNvSpPr/>
          <p:nvPr/>
        </p:nvSpPr>
        <p:spPr>
          <a:xfrm>
            <a:off x="457200" y="2029968"/>
            <a:ext cx="3611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data_loader.py</a:t>
            </a:r>
            <a:r>
              <a:rPr lang="en-US" sz="880" i="1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ingesta + feature eng.</a:t>
            </a:r>
            <a:endParaRPr lang="en-US" sz="880" dirty="0"/>
          </a:p>
        </p:txBody>
      </p:sp>
      <p:sp>
        <p:nvSpPr>
          <p:cNvPr id="9" name="Text 7"/>
          <p:cNvSpPr/>
          <p:nvPr/>
        </p:nvSpPr>
        <p:spPr>
          <a:xfrm>
            <a:off x="457200" y="2368296"/>
            <a:ext cx="3611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chatbot.py</a:t>
            </a:r>
            <a:r>
              <a:rPr lang="en-US" sz="880" i="1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cliente Gemini + streaming</a:t>
            </a:r>
            <a:endParaRPr lang="en-US" sz="880" dirty="0"/>
          </a:p>
        </p:txBody>
      </p:sp>
      <p:sp>
        <p:nvSpPr>
          <p:cNvPr id="10" name="Text 8"/>
          <p:cNvSpPr/>
          <p:nvPr/>
        </p:nvSpPr>
        <p:spPr>
          <a:xfrm>
            <a:off x="457200" y="2706624"/>
            <a:ext cx="3611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requirements.txt</a:t>
            </a:r>
            <a:r>
              <a:rPr lang="en-US" sz="880" i="1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dependencias</a:t>
            </a:r>
            <a:endParaRPr lang="en-US" sz="880" dirty="0"/>
          </a:p>
        </p:txBody>
      </p:sp>
      <p:sp>
        <p:nvSpPr>
          <p:cNvPr id="11" name="Text 9"/>
          <p:cNvSpPr/>
          <p:nvPr/>
        </p:nvSpPr>
        <p:spPr>
          <a:xfrm>
            <a:off x="457200" y="3044952"/>
            <a:ext cx="3611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rappi_company_icon.png</a:t>
            </a:r>
            <a:r>
              <a:rPr lang="en-US" sz="880" i="1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endParaRPr lang="en-US" sz="880" dirty="0"/>
          </a:p>
        </p:txBody>
      </p:sp>
      <p:sp>
        <p:nvSpPr>
          <p:cNvPr id="12" name="Text 10"/>
          <p:cNvSpPr/>
          <p:nvPr/>
        </p:nvSpPr>
        <p:spPr>
          <a:xfrm>
            <a:off x="457200" y="3383280"/>
            <a:ext cx="3611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AVAILABILITY-data (1..100).csv</a:t>
            </a:r>
            <a:r>
              <a:rPr lang="en-US" sz="880" i="1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endParaRPr lang="en-US" sz="880" dirty="0"/>
          </a:p>
        </p:txBody>
      </p:sp>
      <p:sp>
        <p:nvSpPr>
          <p:cNvPr id="13" name="Text 11"/>
          <p:cNvSpPr/>
          <p:nvPr/>
        </p:nvSpPr>
        <p:spPr>
          <a:xfrm>
            <a:off x="457200" y="3721608"/>
            <a:ext cx="3611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 .streamlit/</a:t>
            </a:r>
            <a:r>
              <a:rPr lang="en-US" sz="880" i="1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endParaRPr lang="en-US" sz="880" dirty="0"/>
          </a:p>
        </p:txBody>
      </p:sp>
      <p:sp>
        <p:nvSpPr>
          <p:cNvPr id="14" name="Text 12"/>
          <p:cNvSpPr/>
          <p:nvPr/>
        </p:nvSpPr>
        <p:spPr>
          <a:xfrm>
            <a:off x="640080" y="4059936"/>
            <a:ext cx="3611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├─ config.toml</a:t>
            </a:r>
            <a:r>
              <a:rPr lang="en-US" sz="880" i="1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tema light + naranja</a:t>
            </a:r>
            <a:endParaRPr lang="en-US" sz="880" dirty="0"/>
          </a:p>
        </p:txBody>
      </p:sp>
      <p:sp>
        <p:nvSpPr>
          <p:cNvPr id="15" name="Text 13"/>
          <p:cNvSpPr/>
          <p:nvPr/>
        </p:nvSpPr>
        <p:spPr>
          <a:xfrm>
            <a:off x="640080" y="4398264"/>
            <a:ext cx="3611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└─ secrets.toml</a:t>
            </a:r>
            <a:r>
              <a:rPr lang="en-US" sz="880" i="1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API key (no committed)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320040" y="4846320"/>
            <a:ext cx="3840480" cy="201168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7" name="Text 15"/>
          <p:cNvSpPr/>
          <p:nvPr/>
        </p:nvSpPr>
        <p:spPr>
          <a:xfrm>
            <a:off x="365760" y="484632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8FF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streamlit run app.py  →  http://localhost:8501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572000" y="1143000"/>
            <a:ext cx="4251960" cy="1097280"/>
          </a:xfrm>
          <a:prstGeom prst="rect">
            <a:avLst/>
          </a:prstGeom>
          <a:solidFill>
            <a:srgbClr val="F4F5F7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9" name="Shape 17"/>
          <p:cNvSpPr/>
          <p:nvPr/>
        </p:nvSpPr>
        <p:spPr>
          <a:xfrm>
            <a:off x="4572000" y="1143000"/>
            <a:ext cx="54864" cy="1097280"/>
          </a:xfrm>
          <a:prstGeom prst="rect">
            <a:avLst/>
          </a:prstGeom>
          <a:solidFill>
            <a:srgbClr val="FF441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0" name="Text 18"/>
          <p:cNvSpPr/>
          <p:nvPr/>
        </p:nvSpPr>
        <p:spPr>
          <a:xfrm>
            <a:off x="4709160" y="1234440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Secrets Management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709160" y="1600200"/>
            <a:ext cx="402336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49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 Gemini en secrets.toml (gitignore). st.secrets.get() con fallback a input field.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0" y="2404872"/>
            <a:ext cx="4251960" cy="1097280"/>
          </a:xfrm>
          <a:prstGeom prst="rect">
            <a:avLst/>
          </a:prstGeom>
          <a:solidFill>
            <a:srgbClr val="F4F5F7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3" name="Shape 21"/>
          <p:cNvSpPr/>
          <p:nvPr/>
        </p:nvSpPr>
        <p:spPr>
          <a:xfrm>
            <a:off x="4572000" y="2404872"/>
            <a:ext cx="54864" cy="1097280"/>
          </a:xfrm>
          <a:prstGeom prst="rect">
            <a:avLst/>
          </a:prstGeom>
          <a:solidFill>
            <a:srgbClr val="FF441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4" name="Text 22"/>
          <p:cNvSpPr/>
          <p:nvPr/>
        </p:nvSpPr>
        <p:spPr>
          <a:xfrm>
            <a:off x="4709160" y="2496312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Performance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09160" y="2862072"/>
            <a:ext cx="402336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49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@st.cache_data evita recargar 100 CSVs en cada interacción. Parsing vectorizado con regex.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72000" y="3666744"/>
            <a:ext cx="4251960" cy="1097280"/>
          </a:xfrm>
          <a:prstGeom prst="rect">
            <a:avLst/>
          </a:prstGeom>
          <a:solidFill>
            <a:srgbClr val="F4F5F7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7" name="Shape 25"/>
          <p:cNvSpPr/>
          <p:nvPr/>
        </p:nvSpPr>
        <p:spPr>
          <a:xfrm>
            <a:off x="4572000" y="3666744"/>
            <a:ext cx="54864" cy="1097280"/>
          </a:xfrm>
          <a:prstGeom prst="rect">
            <a:avLst/>
          </a:prstGeom>
          <a:solidFill>
            <a:srgbClr val="FF441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8" name="Text 26"/>
          <p:cNvSpPr/>
          <p:nvPr/>
        </p:nvSpPr>
        <p:spPr>
          <a:xfrm>
            <a:off x="4709160" y="3758184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Zero Deploy Needed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709160" y="4123944"/>
            <a:ext cx="402336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49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 install -r requirements.txt + streamlit run app.py. Sin Docker, sin cloud, sin configuración extra.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914400"/>
            <a:ext cx="4572000" cy="4572000"/>
          </a:xfrm>
          <a:prstGeom prst="ellipse">
            <a:avLst/>
          </a:prstGeom>
          <a:solidFill>
            <a:srgbClr val="FF441F">
              <a:alpha val="12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6583680" y="1645920"/>
            <a:ext cx="2926080" cy="2926080"/>
          </a:xfrm>
          <a:prstGeom prst="ellipse">
            <a:avLst/>
          </a:prstGeom>
          <a:solidFill>
            <a:srgbClr val="FF441F">
              <a:alpha val="22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6858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Rappi Store Monitor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828800" cy="64008"/>
          </a:xfrm>
          <a:prstGeom prst="rect">
            <a:avLst/>
          </a:prstGeom>
          <a:solidFill>
            <a:srgbClr val="FF441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6" name="Text 4"/>
          <p:cNvSpPr/>
          <p:nvPr/>
        </p:nvSpPr>
        <p:spPr>
          <a:xfrm>
            <a:off x="457200" y="1645920"/>
            <a:ext cx="59436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funcional con 7 gráficos Plotly interactivos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 con Gemini 2.5 Flash, streaming y contexto seeded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Branding Rappi completo — naranja + navy, pill-tabs, KPI cards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</a:t>
            </a: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anomalías con z-score local adaptativo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modular, documentado y listo para ejecutar localmente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4251960"/>
            <a:ext cx="1298448" cy="384048"/>
          </a:xfrm>
          <a:prstGeom prst="roundRect">
            <a:avLst>
              <a:gd name="adj" fmla="val 16667"/>
            </a:avLst>
          </a:prstGeom>
          <a:solidFill>
            <a:srgbClr val="FF441F">
              <a:alpha val="25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8" name="Text 6"/>
          <p:cNvSpPr/>
          <p:nvPr/>
        </p:nvSpPr>
        <p:spPr>
          <a:xfrm>
            <a:off x="365760" y="4251960"/>
            <a:ext cx="12984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810512" y="4251960"/>
            <a:ext cx="1298448" cy="384048"/>
          </a:xfrm>
          <a:prstGeom prst="roundRect">
            <a:avLst>
              <a:gd name="adj" fmla="val 16667"/>
            </a:avLst>
          </a:prstGeom>
          <a:solidFill>
            <a:srgbClr val="FF441F">
              <a:alpha val="25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0" name="Text 8"/>
          <p:cNvSpPr/>
          <p:nvPr/>
        </p:nvSpPr>
        <p:spPr>
          <a:xfrm>
            <a:off x="1810512" y="4251960"/>
            <a:ext cx="12984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Streamlit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55264" y="4251960"/>
            <a:ext cx="1298448" cy="384048"/>
          </a:xfrm>
          <a:prstGeom prst="roundRect">
            <a:avLst>
              <a:gd name="adj" fmla="val 16667"/>
            </a:avLst>
          </a:prstGeom>
          <a:solidFill>
            <a:srgbClr val="FF441F">
              <a:alpha val="25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/>
          <p:nvPr/>
        </p:nvSpPr>
        <p:spPr>
          <a:xfrm>
            <a:off x="3255264" y="4251960"/>
            <a:ext cx="12984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Plotly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700016" y="4251960"/>
            <a:ext cx="1298448" cy="384048"/>
          </a:xfrm>
          <a:prstGeom prst="roundRect">
            <a:avLst>
              <a:gd name="adj" fmla="val 16667"/>
            </a:avLst>
          </a:prstGeom>
          <a:solidFill>
            <a:srgbClr val="FF441F">
              <a:alpha val="25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4" name="Text 12"/>
          <p:cNvSpPr/>
          <p:nvPr/>
        </p:nvSpPr>
        <p:spPr>
          <a:xfrm>
            <a:off x="4700016" y="4251960"/>
            <a:ext cx="12984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Flash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144768" y="4251960"/>
            <a:ext cx="1298448" cy="384048"/>
          </a:xfrm>
          <a:prstGeom prst="roundRect">
            <a:avLst>
              <a:gd name="adj" fmla="val 16667"/>
            </a:avLst>
          </a:prstGeom>
          <a:solidFill>
            <a:srgbClr val="FF441F">
              <a:alpha val="25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6" name="Text 14"/>
          <p:cNvSpPr/>
          <p:nvPr/>
        </p:nvSpPr>
        <p:spPr>
          <a:xfrm>
            <a:off x="6144768" y="4251960"/>
            <a:ext cx="12984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Pandas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589520" y="4251960"/>
            <a:ext cx="1298448" cy="384048"/>
          </a:xfrm>
          <a:prstGeom prst="roundRect">
            <a:avLst>
              <a:gd name="adj" fmla="val 16667"/>
            </a:avLst>
          </a:prstGeom>
          <a:solidFill>
            <a:srgbClr val="FF441F">
              <a:alpha val="25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8" name="Text 16"/>
          <p:cNvSpPr/>
          <p:nvPr/>
        </p:nvSpPr>
        <p:spPr>
          <a:xfrm>
            <a:off x="7589520" y="4251960"/>
            <a:ext cx="12984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NumPy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FF4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github.com/Sreys54/Rappi_Entregable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1254</Words>
  <Application>Microsoft Office PowerPoint</Application>
  <PresentationFormat>Presentación en pantalla (16:9)</PresentationFormat>
  <Paragraphs>150</Paragraphs>
  <Slides>10</Slides>
  <Notes>10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5" baseType="lpstr">
      <vt:lpstr>Arial</vt:lpstr>
      <vt:lpstr>Arial Black</vt:lpstr>
      <vt:lpstr>Calibri</vt:lpstr>
      <vt:lpstr>Consolas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Rappi Store Monitor – AI Dashboard</dc:title>
  <dc:subject>PptxGenJS Presentation</dc:subject>
  <dc:creator>PptxGenJS</dc:creator>
  <cp:lastModifiedBy>Santiago Reyes Cortes</cp:lastModifiedBy>
  <cp:revision>1</cp:revision>
  <dcterms:created xsi:type="dcterms:W3CDTF">2026-05-05T20:12:14Z</dcterms:created>
  <dcterms:modified xsi:type="dcterms:W3CDTF">2026-05-05T20:29:41Z</dcterms:modified>
</cp:coreProperties>
</file>